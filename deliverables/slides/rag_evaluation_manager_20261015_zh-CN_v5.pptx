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3e4e76a37a488a" /><Relationship Type="http://schemas.openxmlformats.org/officeDocument/2006/relationships/extended-properties" Target="/docProps/app.xml" Id="Rfacebf4a17284134" /><Relationship Type="http://schemas.openxmlformats.org/officeDocument/2006/relationships/officeDocument" Target="/ppt/presentation.xml" Id="R2eb19b2aeef343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31d096df9d48f1"/>
  </p:sldMasterIdLst>
  <p:notesMasterIdLst>
    <p:notesMasterId xmlns:r="http://schemas.openxmlformats.org/officeDocument/2006/relationships" r:id="Re7f58a7067fb43e5"/>
  </p:notesMasterIdLst>
  <p:sldIdLst>
    <p:sldId xmlns:r="http://schemas.openxmlformats.org/officeDocument/2006/relationships" id="256" r:id="Re0c1d93fefb54612"/>
    <p:sldId xmlns:r="http://schemas.openxmlformats.org/officeDocument/2006/relationships" id="257" r:id="R251e12bf7877487e"/>
    <p:sldId xmlns:r="http://schemas.openxmlformats.org/officeDocument/2006/relationships" id="258" r:id="R28e6ce05b61943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0f75d3c71445f9" /><Relationship Type="http://schemas.openxmlformats.org/officeDocument/2006/relationships/slideMaster" Target="/ppt/slideMasters/slideMaster1.xml" Id="R9f31d096df9d48f1" /><Relationship Type="http://schemas.openxmlformats.org/officeDocument/2006/relationships/notesMaster" Target="/ppt/notesMasters/notesMaster1.xml" Id="Re7f58a7067fb43e5" /><Relationship Type="http://schemas.openxmlformats.org/officeDocument/2006/relationships/presProps" Target="/ppt/presProps.xml" Id="R5b2077afc0cd40aa" /><Relationship Type="http://schemas.openxmlformats.org/officeDocument/2006/relationships/tableStyles" Target="/ppt/tableStyles.xml" Id="Reec2f05c77b24e93" /><Relationship Type="http://schemas.openxmlformats.org/officeDocument/2006/relationships/slide" Target="/ppt/slides/slide1.xml" Id="Re0c1d93fefb54612" /><Relationship Type="http://schemas.openxmlformats.org/officeDocument/2006/relationships/slide" Target="/ppt/slides/slide2.xml" Id="R251e12bf7877487e" /><Relationship Type="http://schemas.openxmlformats.org/officeDocument/2006/relationships/slide" Target="/ppt/slides/slide3.xml" Id="R28e6ce05b61943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91df1dc56948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fe4f0a8cd546d9" /><Relationship Type="http://schemas.openxmlformats.org/officeDocument/2006/relationships/notesMaster" Target="/ppt/notesMasters/notesMaster1.xml" Id="Ref1c0e9a9f3a40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a9a42aba8f4548" /><Relationship Type="http://schemas.openxmlformats.org/officeDocument/2006/relationships/notesMaster" Target="/ppt/notesMasters/notesMaster1.xml" Id="R31f9946bddac48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661296f0bc43d2" /><Relationship Type="http://schemas.openxmlformats.org/officeDocument/2006/relationships/notesMaster" Target="/ppt/notesMasters/notesMaster1.xml" Id="R40977df49b0d46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24道新来源派生题，10原生、10社交、4跨集合，12中文、12英文。各题原始问题直接进入检索，不进行查询改写。三路均在record_selection/record同阶段按输出首次出现顺序去重。关键词与向量为原始通道投影，混合为生产RRF结果，且混合含原生标题通道，不能当成只改融合权重的受控因果试验。代码冻结于2026-10-15，108文件manifest见D:\Projects\549 native ads\.runtime\retrieval_baseline_24_20261015\root/freeze.json。数据使用2026-10-08可验证完整备份的隔离快照，非已核验的10月15日在线数据。来源派生小样本不代表真实用户问题分布。相关性为AI辅助，非人工金标准或客户验收。0–3线性增益，binary relevance&gt;=2，NDCG使用log2位置折扣。MRR在K截断。P@K不足K仍以K为分母。Recall仅对已知已判相关池。Hit为前K至少命中一个相关来源的题数，不衡量全部找全。不评价端到端答案准确率。本轮没有使用原客户24题。来源：D:\Projects\549 native ads\.runtime\retrieval_baseline_24_20261015\scoring\results/stratified_metrics.json、independent_metrics.json、canonical/metrics.json、independent_verification.json；D:\Projects\549 native ads\.runtime\retrieval_baseline_24_20261015\root/questions.json、retrieval_freeze.json、judgment_freeze.json；D:\Projects\549 native ads\.runtime\retrieval_baseline_24_20261015\scoring\audit\source_cost_audit.json。 本页逐模式可评分分母：{"keyword":{"ndcg":24,"mrr":24,"precision":24,"recall":24},"vector":{"ndcg":24,"mrr":24,"precision":24,"recall":24},"hybrid":{"ndcg":24,"mrr":24,"precision":24,"recall":24}}。全24题逐题宏平均，三个来源组权重为10/24、10/24、4/24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24道新来源派生题，10原生、10社交、4跨集合，12中文、12英文。各题原始问题直接进入检索，不进行查询改写。三路均在record_selection/record同阶段按输出首次出现顺序去重。关键词与向量为原始通道投影，混合为生产RRF结果，且混合含原生标题通道，不能当成只改融合权重的受控因果试验。代码冻结于2026-10-15，108文件manifest见D:\Projects\549 native ads\.runtime\retrieval_baseline_24_20261015\root/freeze.json。数据使用2026-10-08可验证完整备份的隔离快照，非已核验的10月15日在线数据。来源派生小样本不代表真实用户问题分布。相关性为AI辅助，非人工金标准或客户验收。0–3线性增益，binary relevance&gt;=2，NDCG使用log2位置折扣。MRR在K截断。P@K不足K仍以K为分母。Recall仅对已知已判相关池。Hit为前K至少命中一个相关来源的题数，不衡量全部找全。不评价端到端答案准确率。本轮没有使用原客户24题。来源：D:\Projects\549 native ads\.runtime\retrieval_baseline_24_20261015\scoring\results/stratified_metrics.json、independent_metrics.json、canonical/metrics.json、independent_verification.json；D:\Projects\549 native ads\.runtime\retrieval_baseline_24_20261015\root/questions.json、retrieval_freeze.json、judgment_freeze.json；D:\Projects\549 native ads\.runtime\retrieval_baseline_24_20261015\scoring\audit\source_cost_audit.json。 本页逐模式可评分分母：{"keyword":{"ndcg":24,"mrr":24,"precision":24,"recall":24},"vector":{"ndcg":24,"mrr":24,"precision":24,"recall":24},"hybrid":{"ndcg":24,"mrr":24,"precision":24,"recall":24}}。已返回位置标注覆盖=674/674，与Judged@K（分母包含未返回位置）区分。固定10%按query/record哈希选择复判，另补每等级及无效primary，若有效两票分歧则第三盲票取中位数。1组未裁分歧按预定规则保留primary，相关结果仍为AI参考，不称全部通过三票裁决。judgment freeze原始记录：{"at_utc":"2026-10-15T21:11:30.429442+00:00","prompt_sha256":"8b2b9af9fbfe0ed4d980e4b8fadc3ea55883472879a1c4fc7052658606c6a4e0","primary_count":486,"review_count":66,"adjudication_count":13,"disagreement_count":11,"review_rule":"fixed hash10percent + ensure grades + invalid primaries; disagreements get third blind vote, median3; invalid primary uses first valid secondary; otherwise primary retained","unjudged_count":0,"final_sha256":"5ca10bf06f3c0fb357804a7a625cd3e43cb0a62f3ad99443bc403a635dbf31d2","unresolved_disagreement_count":1,"review_unjudged_count":11,"cost_or_pending_reserve_usd":0.17048746,"exact_locator_completion_count":8,"completion_phase":"same rubric, full source indexed units; only previously unjudged","completed_at_utc":"2026-10-15T21:13:57.734442+00:00"}。本轮用量计价精确值0.17048746美元，621次调用用量已核对，阶段费用{"question_construction":"0.0117026","query_embedding":"0.00001690","relevance_primary":"0.1435036","relevance_review":"0.01083306","relevance_adjudication":"0.00228770","relevance_locator_completion":"0.0021436"}。费用包含定位补全等真实调用，不只含主判断。按保存的提供商token usage及配置价格独立复算，未独立核对供应商账单。历史日志三项语义补评分计划另在第3页，其预算不计入本轮。 运行开始前于2026-10-15 20:52 UTC冻结源码。后续service.py并行修改不在本轮测试范围，直接检索模块在结束核查时仍与本轮冻结相同。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来源：D:/Projects/549 native ads/docs/rag_three_metric_preflight_20261015.zh-CN.md；D:/Projects/549 native ads/.runtime/rag_three_metrics_preflight_20261015/root/cost_estimate.json。目前只完成日志可适配性预检，尚未完成评分器验证或执行评分。Context Precision可适配304题、2075个有序写作证据对象，其中7题最终生成失败但上下文仍可独立评估。普通写作Faithfulness为446题；另外495题多阶段名单筛查只能单列最终证据支持诊断。Answer Relevance1272题包含65题证据不足回答，应单列；排除11个服务错误。1283道有效题来自原B1K996题及N97、M95、R95，跨4个历史代码版本；不含旧278题/Customer24、P59/R2及P60–66。各指标分母不同，不能相加。基本估计精确值4.684937美元；可选诊断增加5.470479美元，共10.155416美元。沿用英文版已核验价格假设：gpt-5.6-luna标准输入0.20美元/百万token、输出1.20美元/百万token，text-embedding-3-small0.02美元/百万token；reasoning=none、单次、无重试。输出用量及预留均为估计。尚未授权或执行付费评分。标准RAGAS语义Context Recall未评分且不在本预算内。当前代码重新作答需要另行冻结数据、代码、范围、参考及费用上限。 本页保留历史日志三项语义补评分计划。304/446/1272各自为可适配题数，不能相加，也不是本轮24题检索的分数或分母。历史日志评分尚未执行，4.68/6.09/约7美元为原计划估算，本轮用户批准的24题检索费用另在第2页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d8caa8ba2741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68c443f5e64a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182d306ebb4e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38a22f4224e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84c37011f4a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b6de007dba4e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92D762-5C5D-4ECF-800D-EC795F67E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474E2D-1F0F-4EB4-A05B-8E87856828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D33A2CB-D802-4CDA-B598-5FFF059D2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3F9B31-9867-447F-8630-240BA5EC23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A37DFD9-577D-4BC9-97E7-847841A2DF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2235B6-1B53-4A77-85AF-137BC10518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973CF6-2D54-4281-950D-E971824997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C2C069-4AB8-4DFB-8FE1-8C4F214A34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217CF6-3546-4AA5-8A34-1A5643FB5F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59B60A-67AC-4058-9495-78A07D2BF2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b8662879a94103" /><Relationship Type="http://schemas.openxmlformats.org/officeDocument/2006/relationships/slideLayout" Target="/ppt/slideLayouts/slideLayout1.xml" Id="Rcee303322c754ea9" /><Relationship Type="http://schemas.openxmlformats.org/officeDocument/2006/relationships/slideLayout" Target="/ppt/slideLayouts/slideLayout2.xml" Id="R051a641a01104c67" /><Relationship Type="http://schemas.openxmlformats.org/officeDocument/2006/relationships/slideLayout" Target="/ppt/slideLayouts/slideLayout3.xml" Id="R598ff00713754230" /><Relationship Type="http://schemas.openxmlformats.org/officeDocument/2006/relationships/slideLayout" Target="/ppt/slideLayouts/slideLayout4.xml" Id="R05f09aee74b5420b" /><Relationship Type="http://schemas.openxmlformats.org/officeDocument/2006/relationships/slideLayout" Target="/ppt/slideLayouts/slideLayout5.xml" Id="R76b866113404484b" /><Relationship Type="http://schemas.openxmlformats.org/officeDocument/2006/relationships/slideLayout" Target="/ppt/slideLayouts/slideLayout6.xml" Id="R3731533cd0e14a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e303322c754ea9"/>
    <p:sldLayoutId xmlns:r="http://schemas.openxmlformats.org/officeDocument/2006/relationships" id="2147483650" r:id="R051a641a01104c67"/>
    <p:sldLayoutId xmlns:r="http://schemas.openxmlformats.org/officeDocument/2006/relationships" id="2147483651" r:id="R598ff00713754230"/>
    <p:sldLayoutId xmlns:r="http://schemas.openxmlformats.org/officeDocument/2006/relationships" id="2147483652" r:id="R05f09aee74b5420b"/>
    <p:sldLayoutId xmlns:r="http://schemas.openxmlformats.org/officeDocument/2006/relationships" id="2147483653" r:id="R76b866113404484b"/>
    <p:sldLayoutId xmlns:r="http://schemas.openxmlformats.org/officeDocument/2006/relationships" id="2147483654" r:id="R3731533cd0e14a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cb4e8102134270" /><Relationship Type="http://schemas.openxmlformats.org/officeDocument/2006/relationships/notesSlide" Target="/ppt/notesSlides/notesSlide1.xml" Id="R6e36b74c1c214e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582e36befc4724" /><Relationship Type="http://schemas.openxmlformats.org/officeDocument/2006/relationships/notesSlide" Target="/ppt/notesSlides/notesSlide2.xml" Id="Rf538dcb6f0354d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f9f5a697ff449b" /><Relationship Type="http://schemas.openxmlformats.org/officeDocument/2006/relationships/notesSlide" Target="/ppt/notesSlides/notesSlide3.xml" Id="Rafa8c028fa9c40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68B99-FBEC-458B-8481-985A917F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最新本机 RAG 检索基线：前 5 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973AC-2AF1-4FE4-88D9-3D13D33C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24 道新来源派生题，10 原生、10 社交、4 跨集合，12 中文、12 英文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本机代码 2026-10-15，数据采用可验证的 2026-10-08 快照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4F114-D2F4-4735-B494-4026388E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1 /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32C30-726B-4A30-8749-48B5B12328AC}"/>
              </a:ext>
            </a:extLst>
          </p:cNvPr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286000"/>
                <a:gridCol w="2286000"/>
                <a:gridCol w="2286000"/>
              </a:tblGrid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指标（K = 5）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关键词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NDCG：相关结果排序质量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0.4403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0.8015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0.7203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MRR：平均倒数排名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0.5278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0.9250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0.8764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精确率 Precision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0.2500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0.4500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0.3750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已知相关池召回率 Recall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0.4309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0.7195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0.6392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命中题数 Hit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/ 24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 / 24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 / 24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1CF4E-21AD-464E-AE29-1CE67FB8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rPr>
              <a:t>同阶段文章选择比较，使用原始问题直接检索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4D4C6-4E86-495C-A7EB-9E437DF0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三路均按文章选择（record selection）顺序评分，原始问题未改写。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混合检索融合关键词、向量与原生标题通道，指标按题取均值。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AI 相关性参考用于检索诊断，答案准确率与客户验收需另行评价。</a:t>
            </a:r>
          </a:p>
        </p:txBody>
      </p:sp>
    </p:spTree>
    <p:extLst>
      <p:ext uri="{BB962C8B-B14F-4D97-AF65-F5344CB8AC3E}">
        <p14:creationId xmlns:p14="http://schemas.microsoft.com/office/powerpoint/2010/main" val="5243702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E5FBA-28E8-4601-AFE3-4D908E20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RAG 检索基线：前 10 条与评价方法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E4B56-A5C1-4C82-807C-AAF74026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24 道新来源派生题，10 原生、10 社交、4 跨集合，12 中文、12 英文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本机代码 2026-10-15，数据采用可验证的 2026-10-08 快照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6718D-FD6A-4F15-94ED-939009FF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2 /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7662B-452F-4CF7-AF17-9D1EE86116E1}"/>
              </a:ext>
            </a:extLst>
          </p:cNvPr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286000"/>
                <a:gridCol w="2286000"/>
                <a:gridCol w="2286000"/>
              </a:tblGrid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指标（K = 10）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关键词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NDCG：相关结果排序质量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0.4356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0.8396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0.7583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MRR：平均倒数排名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0.5347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0.9250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0.8816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精确率 Precision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0.1542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0.3375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0.2958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已知相关池召回率 Recall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0.4737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0.8597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0.7931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命中题数 Hit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 / 24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 / 24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 / 24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8A29E-FCE5-4D4D-AE90-7C871948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rPr>
              <a:t>本轮用量计价 $0.170487，</a:t>
            </a:r>
            <a:r>
              <a: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rPr>
              <a:t>621 次调用用量已核对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07FE7-40CB-4372-9814-B6928C15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盲判池含 486 组题目—文章对，来自三路前 10 并集、独立锚点和补充材料。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AI 判 0–3 级，≥2 记相关，固定 10% 复判，分歧再取第三票中位数。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返回前 10 结果均已判断。</a:t>
            </a:r>
            <a:r>
              <a: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1 组未裁分歧依预定规则保留初判。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Recall 仅对已知池，费用含构题、查询向量、判定与定位补全。</a:t>
            </a:r>
          </a:p>
        </p:txBody>
      </p:sp>
    </p:spTree>
    <p:extLst>
      <p:ext uri="{BB962C8B-B14F-4D97-AF65-F5344CB8AC3E}">
        <p14:creationId xmlns:p14="http://schemas.microsoft.com/office/powerpoint/2010/main" val="5620012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B2BD0-95AB-4227-AAFD-14F5A3E3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下一轮：利用已有日志补齐语义评分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68461-CC03-4457-9019-4AB782C6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历史日志含 1,283 道有效题，跨 4 个代码版本，本页三项评分尚未执行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B1A93-9DAB-4929-8E9A-BCFCD4E1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3 /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03B81-A9DB-486B-B589-06B9D01EBF7F}"/>
              </a:ext>
            </a:extLst>
          </p:cNvPr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110490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2000250"/>
                <a:gridCol w="5238750"/>
              </a:tblGrid>
              <a:tr h="595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可适配题数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怎么评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上下文精确率</a:t>
                      </a:r>
                    </a:p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 Precision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逐段判断对参考答案是否有用</a:t>
                      </a:r>
                    </a:p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按证据排序计算平均精度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忠实性 Faithfulness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446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将回答拆成事实陈述</a:t>
                      </a:r>
                    </a:p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计算被实际证据支持的比例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回答相关性</a:t>
                      </a:r>
                    </a:p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Answer Relevance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1,272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由回答反推 3 个问题</a:t>
                      </a:r>
                    </a:p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与原问题比较语义相似度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917CC-DB7F-4C64-B320-B40FC3E6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rPr>
              <a:t>基本估计 $4.68，加 30% 余量为 $6.09，按约 $7 规划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E91EA-0A44-47E9-BB16-D1341A68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01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执行：固定问题、回答及证据，先试评 12–20 题，再固定配置批量评分。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按 4 个历史版本分别报告，缺项和评分失败单列。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C2DAA-31AC-46C3-A613-852FD5FB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预算假设：reasoning=none、单次、不重试，仅含历史日志评分，金额均为美元。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本页尚未执行，未计入本轮 24 题检索实测费用。</a:t>
            </a:r>
          </a:p>
        </p:txBody>
      </p:sp>
    </p:spTree>
    <p:extLst>
      <p:ext uri="{BB962C8B-B14F-4D97-AF65-F5344CB8AC3E}">
        <p14:creationId xmlns:p14="http://schemas.microsoft.com/office/powerpoint/2010/main" val="13459839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2026-10-15T21:19:29.7870000Z</dcterms:created>
  <dcterms:modified xsi:type="dcterms:W3CDTF">2026-10-15T21:19:29.7870000Z</dcterms:modified>
</coreProperties>
</file>