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0cd8084954953" /><Relationship Type="http://schemas.openxmlformats.org/officeDocument/2006/relationships/extended-properties" Target="/docProps/app.xml" Id="Ra0e7f9d8ab5540b1" /><Relationship Type="http://schemas.openxmlformats.org/officeDocument/2006/relationships/officeDocument" Target="/ppt/presentation.xml" Id="R68e852c0eebe45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6ebb61cee4905"/>
  </p:sldMasterIdLst>
  <p:notesMasterIdLst>
    <p:notesMasterId xmlns:r="http://schemas.openxmlformats.org/officeDocument/2006/relationships" r:id="R989a785dce504f82"/>
  </p:notesMasterIdLst>
  <p:sldIdLst>
    <p:sldId xmlns:r="http://schemas.openxmlformats.org/officeDocument/2006/relationships" id="256" r:id="Rf5f3bc4d64b74e22"/>
    <p:sldId xmlns:r="http://schemas.openxmlformats.org/officeDocument/2006/relationships" id="257" r:id="Rb14ba90f8b2a4c89"/>
    <p:sldId xmlns:r="http://schemas.openxmlformats.org/officeDocument/2006/relationships" id="258" r:id="R3fe0dcb82b014da5"/>
    <p:sldId xmlns:r="http://schemas.openxmlformats.org/officeDocument/2006/relationships" id="259" r:id="R5bd81d538e3d481b"/>
    <p:sldId xmlns:r="http://schemas.openxmlformats.org/officeDocument/2006/relationships" id="260" r:id="Rf4d01d9b2bf346c6"/>
    <p:sldId xmlns:r="http://schemas.openxmlformats.org/officeDocument/2006/relationships" id="261" r:id="R4f3c09a0cbcc4965"/>
    <p:sldId xmlns:r="http://schemas.openxmlformats.org/officeDocument/2006/relationships" id="262" r:id="R726fbffc69e947be"/>
    <p:sldId xmlns:r="http://schemas.openxmlformats.org/officeDocument/2006/relationships" id="263" r:id="R262657e511844e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8ecc6b2a0b4a83" /><Relationship Type="http://schemas.openxmlformats.org/officeDocument/2006/relationships/slideMaster" Target="/ppt/slideMasters/slideMaster1.xml" Id="R2d76ebb61cee4905" /><Relationship Type="http://schemas.openxmlformats.org/officeDocument/2006/relationships/notesMaster" Target="/ppt/notesMasters/notesMaster1.xml" Id="R989a785dce504f82" /><Relationship Type="http://schemas.openxmlformats.org/officeDocument/2006/relationships/presProps" Target="/ppt/presProps.xml" Id="R384ccfeb2f4c4f12" /><Relationship Type="http://schemas.openxmlformats.org/officeDocument/2006/relationships/tableStyles" Target="/ppt/tableStyles.xml" Id="R6c0e65b81aa44ae2" /><Relationship Type="http://schemas.openxmlformats.org/officeDocument/2006/relationships/slide" Target="/ppt/slides/slide1.xml" Id="Rf5f3bc4d64b74e22" /><Relationship Type="http://schemas.openxmlformats.org/officeDocument/2006/relationships/slide" Target="/ppt/slides/slide2.xml" Id="Rb14ba90f8b2a4c89" /><Relationship Type="http://schemas.openxmlformats.org/officeDocument/2006/relationships/slide" Target="/ppt/slides/slide3.xml" Id="R3fe0dcb82b014da5" /><Relationship Type="http://schemas.openxmlformats.org/officeDocument/2006/relationships/slide" Target="/ppt/slides/slide4.xml" Id="R5bd81d538e3d481b" /><Relationship Type="http://schemas.openxmlformats.org/officeDocument/2006/relationships/slide" Target="/ppt/slides/slide5.xml" Id="Rf4d01d9b2bf346c6" /><Relationship Type="http://schemas.openxmlformats.org/officeDocument/2006/relationships/slide" Target="/ppt/slides/slide6.xml" Id="R4f3c09a0cbcc4965" /><Relationship Type="http://schemas.openxmlformats.org/officeDocument/2006/relationships/slide" Target="/ppt/slides/slide7.xml" Id="R726fbffc69e947be" /><Relationship Type="http://schemas.openxmlformats.org/officeDocument/2006/relationships/slide" Target="/ppt/slides/slide8.xml" Id="R262657e511844e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9fa97393f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5f704514648bc" /><Relationship Type="http://schemas.openxmlformats.org/officeDocument/2006/relationships/notesMaster" Target="/ppt/notesMasters/notesMaster1.xml" Id="R5e0a569a84704a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f4aaaad7ca4e5f" /><Relationship Type="http://schemas.openxmlformats.org/officeDocument/2006/relationships/notesMaster" Target="/ppt/notesMasters/notesMaster1.xml" Id="R18b663157caf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db86ede392486e" /><Relationship Type="http://schemas.openxmlformats.org/officeDocument/2006/relationships/notesMaster" Target="/ppt/notesMasters/notesMaster1.xml" Id="R27f235caa3a640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eb9b9f1014696" /><Relationship Type="http://schemas.openxmlformats.org/officeDocument/2006/relationships/notesMaster" Target="/ppt/notesMasters/notesMaster1.xml" Id="R9abb157ad65544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7b684a76a4571" /><Relationship Type="http://schemas.openxmlformats.org/officeDocument/2006/relationships/notesMaster" Target="/ppt/notesMasters/notesMaster1.xml" Id="R1b7f0585fcdb43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881828e43a481a" /><Relationship Type="http://schemas.openxmlformats.org/officeDocument/2006/relationships/notesMaster" Target="/ppt/notesMasters/notesMaster1.xml" Id="R657393ec76b8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9c7e45988a4fd7" /><Relationship Type="http://schemas.openxmlformats.org/officeDocument/2006/relationships/notesMaster" Target="/ppt/notesMasters/notesMaster1.xml" Id="R337d218b025342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edd2d4a6c4744" /><Relationship Type="http://schemas.openxmlformats.org/officeDocument/2006/relationships/notesMaster" Target="/ppt/notesMasters/notesMaster1.xml" Id="Rec2e237e03374e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本演示是 FA26 项目的研究预览，展示当前已运行的原生数据看板与带证据问答。双数据集交付目标不变。真实社交语料、指定 GitHub、固定域名和人工验收尚未完成。依据：FA26_DELIVERY_PLAN.zh-CN.md；docs/handoff.md；reports/claim_contract_v0_2_2.md。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来源：FA26_DELIVERY_PLAN.zh-CN.md 的 M1–M8；docs/handoff.md；reports/claim_contract_v0_2_2.md。该矩阵描述本地实施与剩余依赖，不代表各模块全部通过验收。CLAIMS 只使用保存的历史标签，本期没有重建分类后端或训练模型。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来源：docs/handoff.md；reports/data_revision_v0_2.md；outputs/native_import_v0_2_published_repeat_20260916.json；reports/truncation_recovery_preflight.md。数据版本 d85a98002e4493f0376c260ad82253ee。275 收录记录包括元数据-only 项；263 可计数；226 合格检索正文；554 检索 chunks。94 是疑似截断的质量警告，既不是 94 次检索失败，也不表示剩余内容均不可服务。现有结构化来源确认直接恢复全文 0 条，3 个 PDF 续文候选尚未核实身份和视觉边界。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来源：docs/user_guide.md；docs/handoff.md。公众界面使用英文。六字段为 URL、publisher、title、date、sponsor、keyword。公司和媒体的 count/percent、timeline、sponsor-publisher 关系均按筛选后的可计数记录计算。曾通过浏览器验证 exxonmobil 15 个不同 record_id，与导出 CSV 的 15 条一致。此历史功能证据不等于本轮重跑浏览器。来源链接关闭时页面、证据和导出 URL 一并隐藏。unknown 与 historical labels 保留说明。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来源：outputs/development_claim_contract_20260916.json；reports/claim_contract_v0_2_2.md；reports/assisted_semantic_review_v0_2_2.md。run d26eb540a6114cfe9672a755c43f39a7，dev-07。下方英文是广告原句，不能证明现实中设施已建成或产量已实现。record_id=0d2b4bc2-4397-5604-8235-fcda8c7088f7；version_id=7edbf6617dc344578452865c341bfe53f5f18beb6b9bc30caa51aa6e96269cde；evidence_id=c073c2acb5b73e32052753e012aa8417b7b0026652834dafc4d2fcd38df051f7；字符区间 [688,895)；paragraph_ids=p1；source=https://partners.wsj.com/exxonmobil/business-of-carbon-capture-and-storage/hydrogen-another-chapter-in-exxonmobils-lower-emissions-ambitions/。程序从被选 passage_id 还原原文和坐标，模型不手工计算偏移。语言沿用问题语言，并用保守本地检查拦截明显错语，短文本仍可能不确定。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来源：docs/architecture.md；docs/operations.md；docs/handoff.md；FA26_DELIVERY_PLAN.zh-CN.md；outputs/development_claim_contract_20260916.json。已有 Windows 隔离 PostgreSQL 和 pgvector，本机 127.0.0.1:55432；Dash 127.0.0.1:8050。本机无需再次下载 PostgreSQL。Dash/Plotly/AG Grid 展示，pandas/Pandera 导入校验，PostgreSQL/pgvector 版本、统计、检索，pySBD 切句与校验，Pydantic 和 OpenAI SDK 生成结构化输出，Lingua 保守语言检查。预算为应用月度 $100 配置目标，调用前预留，成功或失败后按实际用量结算。Luna 与 embedding 均可能计费，SQL 计数和词项搜索不调用模型。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来源：outputs/development_claim_contract_20260916.json；reports/claim_contract_v0_2_2.md；reports/assisted_semantic_review_v0_2_2.md；reports/citation_review_v0_2_2.csv。run d26eb540a6114cfe9672a755c43f39a7；数据 d85a98002e4493f0376c260ad82253ee；draft_not_frozen。13 ready：8 answered、2 count_only、3 insufficient_evidence。4 social + 3 cross pending 不计通过。8 match 是本地语言启发式。当前 16 行人工字段为空。AI 复核指出本次 dev-01 归因和 dev-07 蓝氢对象已补齐；dev-03 经济挑战的完整性和 dev-05 BIOMEM 额外背景仍需要判断。开发题已用于迭代，不能当盲测或稳健性结论。0.2.2 相关 52 项测试通过，0.2.1 全套 164 项仅保留历史证据，本轮未重跑完整套件。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来源：docs/handoff.md；docs/operations.md；docs/user_guide.md；docs/evaluation_protocol.md；FA26_DELIVERY_PLAN.zh-CN.md；reports/claim_contract_v0_2_2.md。接手顺序：README / handoff，Start-Observatory.ps1，浏览器原生筛选和免费搜索，查看已保存 RAG 输出及 citation_review CSV，补真实社交，再完成域名和 GitHub，冻结题库进行独立人工验收，最终双数据集演示。原始资料需要单独提供，密钥和数据库运行时不进源码包。当前 deck 不是 final_presentation 或最终验收证书。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084c61ad7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fd3d7772b44f3" /><Relationship Type="http://schemas.openxmlformats.org/officeDocument/2006/relationships/slideLayout" Target="/ppt/slideLayouts/slideLayout1.xml" Id="Rc02d505a9951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2d505a9951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a6304cad4ed7" /><Relationship Type="http://schemas.openxmlformats.org/officeDocument/2006/relationships/notesSlide" Target="/ppt/notesSlides/notesSlide1.xml" Id="Rf9f0fa34a99d4b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ababf760f428d" /><Relationship Type="http://schemas.openxmlformats.org/officeDocument/2006/relationships/notesSlide" Target="/ppt/notesSlides/notesSlide2.xml" Id="Rc349caeaea3c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2f6dcf4704737" /><Relationship Type="http://schemas.openxmlformats.org/officeDocument/2006/relationships/chart" Target="/ppt/slides/charts/chart1.xml" Id="R1707ea1c5b224740" /><Relationship Type="http://schemas.openxmlformats.org/officeDocument/2006/relationships/notesSlide" Target="/ppt/notesSlides/notesSlide3.xml" Id="Rfadb2d7a03bb43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c781d58374cf5" /><Relationship Type="http://schemas.openxmlformats.org/officeDocument/2006/relationships/notesSlide" Target="/ppt/notesSlides/notesSlide4.xml" Id="R8a71e6e9811a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5af2180cb4808" /><Relationship Type="http://schemas.openxmlformats.org/officeDocument/2006/relationships/notesSlide" Target="/ppt/notesSlides/notesSlide5.xml" Id="R92df9b2b8a6c45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78ad6f9754225" /><Relationship Type="http://schemas.openxmlformats.org/officeDocument/2006/relationships/notesSlide" Target="/ppt/notesSlides/notesSlide6.xml" Id="R25498d7400664d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fa273fc0447d1" /><Relationship Type="http://schemas.openxmlformats.org/officeDocument/2006/relationships/notesSlide" Target="/ppt/notesSlides/notesSlide7.xml" Id="R212424304144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803730e64cd3" /><Relationship Type="http://schemas.openxmlformats.org/officeDocument/2006/relationships/notesSlide" Target="/ppt/notesSlides/notesSlide8.xml" Id="Rcd88038020e343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记录数</c:v>
          </c:tx>
          <c:spPr>
            <a:solidFill xmlns:a="http://schemas.openxmlformats.org/drawingml/2006/main">
              <a:srgbClr val="176B63"/>
            </a:solidFill>
          </c:spPr>
          <c:cat>
            <c:strRef>
              <c:f>'Chart Data'!$A$2:$A$4</c:f>
              <c:strCache>
                <c:ptCount val="3"/>
                <c:pt idx="0">
                  <c:v>收录记录</c:v>
                </c:pt>
                <c:pt idx="1">
                  <c:v>可计数记录</c:v>
                </c:pt>
                <c:pt idx="2">
                  <c:v>可检索正文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275</c:v>
                </c:pt>
                <c:pt idx="1">
                  <c:v>263</c:v>
                </c:pt>
                <c:pt idx="2">
                  <c:v>226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C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5F2E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2E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EB085-21D4-44E9-A1DE-942C58E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FA26  DS 549  /  CISS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EFA6D-19A9-48FA-9812-93BC20A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化石燃料与动物农业</a:t>
            </a:r>
          </a:p>
          <a:p xmlns:a="http://schemas.openxmlformats.org/drawingml/2006/main">
            <a:pPr>
              <a:defRPr sz="48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广告观测站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E34D-1AAE-42AD-9F12-B2ECE8C7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38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研究预览 0.2.2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B0ED5-66FB-49B7-8B29-CD446F6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Native corpus connected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D0853-3948-4D91-B669-F319BAF0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本地原生语料已连接，最终验收仍待完成。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4648F-C808-40A0-9910-B6A06823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8678C-87AC-4074-A128-FC16F54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2026-09-16</a:t>
            </a:r>
          </a:p>
        </p:txBody>
      </p:sp>
    </p:spTree>
    <p:extLst>
      <p:ext uri="{BB962C8B-B14F-4D97-AF65-F5344CB8AC3E}">
        <p14:creationId xmlns:p14="http://schemas.microsoft.com/office/powerpoint/2010/main" val="2116500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882A-3AFE-40F4-B150-82F5FCF0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项目交付目标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FFB40-2CDE-4CED-AC8B-8D60657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八个模块围绕双数据集与带证据问答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581FE-4A54-4A98-8B00-2D35916F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936C8-283F-4D10-AF80-C2D3198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611B2-B182-46AA-A99C-E99DB39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4343400"/>
                <a:gridCol w="4343400"/>
              </a:tblGrid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当前已有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下一项交付依赖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 数据导入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原生数据、版本与来源绑定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真实社交导出与字段核对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 正文与来源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质量标记、原文区间、引用定位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截断候选的身份与页面核对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 原生看板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六字段、图表、筛选与导出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持续对账和用户验收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M4  社交视图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独立状态与适配接口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真实数据尚未连接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M5  检索问答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关键词、向量、SQL 与带证据回答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人工判断语义充分性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M6  评价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开发诊断与 20＋20 题草案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冻结验收题并独立人审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M7  部署与费用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本地运行、预算与备份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固定域名与外部访问验收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46566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M8  交接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源码、说明、测试、研究预览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 GitHub 与最终双库演示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955F1-C355-478E-944F-FFEDC1EA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CLAIMS：保留历史自动标签及其来源，后端集成列为未来工作。</a:t>
            </a:r>
          </a:p>
        </p:txBody>
      </p:sp>
    </p:spTree>
    <p:extLst>
      <p:ext uri="{BB962C8B-B14F-4D97-AF65-F5344CB8AC3E}">
        <p14:creationId xmlns:p14="http://schemas.microsoft.com/office/powerpoint/2010/main" val="458204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C523E-06DD-475A-8E50-F3D887D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M1–M2  数据与质量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9DEFE-61A3-41C2-91CC-F441EC0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同一批语料使用不同的资格口径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5BF91-37B8-4ABC-B3F4-7BB0A73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D4EB2-CEAB-4C1E-B89C-663251C5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427F3-C29A-4907-B948-577CC708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638300"/>
          <a:ext xmlns:a="http://schemas.openxmlformats.org/drawingml/2006/main" cx="781050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07ea1c5b22474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57653-0160-4EBA-B8B4-808F5D9B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9547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554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E6037-655D-4CCA-A3E9-E296869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6702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检索文本块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7B594-65BF-4476-A02B-A4476548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433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9362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93622C"/>
                </a:solidFill>
                <a:latin typeface="Microsoft YaHei"/>
                <a:ea typeface="Microsoft YaHei"/>
                <a:cs typeface="Microsoft YaHei"/>
              </a:rPr>
              <a:t>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17D6C-BD50-4FB3-9741-1C548F81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434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疑似截断警告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1162E-F04E-482F-A963-E9078A7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保留原文和质量标记，按可用区间检索。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0ECCE-2604-47A9-B4C6-F76D25A2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结构化来源尚未确认恢复全文；3 个 PDF 续文候选仍需核对。</a:t>
            </a:r>
          </a:p>
        </p:txBody>
      </p:sp>
    </p:spTree>
    <p:extLst>
      <p:ext uri="{BB962C8B-B14F-4D97-AF65-F5344CB8AC3E}">
        <p14:creationId xmlns:p14="http://schemas.microsoft.com/office/powerpoint/2010/main" val="965194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ABD6-5B33-4067-AB6A-8C011739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M3  原生广告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E76E5-025B-462F-B7EE-6EA3A4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筛选、图表和 CSV 共享同一记录集合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FDC39-5227-4D5D-93C0-EEBD5A0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B28C6-7FDC-4FC2-BADA-DEBD810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0D562-CCA2-4396-B393-4E1A93F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2914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95750"/>
                <a:gridCol w="6877050"/>
              </a:tblGrid>
              <a:tr h="5829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六字段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研究者可做的操作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</a:tr>
              <a:tr h="5829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URL、publisher、title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查看文章与媒体，按配置打开来源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829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date、sponsor、keyword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筛选日期、赞助方和词项，保留 Unknown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829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数量、占比与时间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对账公司／媒体统计和时间分布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829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赞助关系与导出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检查公司与媒体连接，导出当前集合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F593C-CE97-4F49-9980-A814CC00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ExxonMobil  15 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84DF1-DAF7-4D3B-9509-EEA9B83B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保存的浏览器核对：筛选 15 个记录 ID，CSV 导出同为 15 条。</a:t>
            </a:r>
          </a:p>
        </p:txBody>
      </p:sp>
    </p:spTree>
    <p:extLst>
      <p:ext uri="{BB962C8B-B14F-4D97-AF65-F5344CB8AC3E}">
        <p14:creationId xmlns:p14="http://schemas.microsoft.com/office/powerpoint/2010/main" val="267539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D2F11-44E3-4CCD-86B5-AE66E119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M5  原文定位与回答约束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F95F5-E8F5-4082-8DE1-D71085D9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回答同时保留广告归因、数量对象和规划状态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7043F-5BBD-4BDA-A771-A270B0BE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14931-D6AA-48D6-86A1-2CEB54F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45DC0-3992-429E-85C1-A664C95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CEA4A-30FA-4C9E-920C-4B658B4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实际广告引文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0A7E3-86DC-4219-A045-A12FAFBD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Once completed, the new facility could produce up to 1 billion cubic feet a day of blue hydrogen that can be used to help fuel the existing Baytown complex as well as other industrial facilities in the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4D2E0-66DB-46DD-BF4C-E9DAAE91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59C56-8F92-4CEE-8A7C-B7E0C266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广告称：设施建成后，蓝氢日产量可能达到最多 10 亿立方英尺。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4919E-03D9-404E-91C6-AE9C0657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归因：广告称     对象：蓝氢     单位：立方英尺／日     状态：可能、建成后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4613F-8C43-4908-AC20-6452416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原文字符区间 [688, 895)  /  记录 0d2b4bc2…  /  版本 7edbf661…</a:t>
            </a:r>
          </a:p>
        </p:txBody>
      </p:sp>
    </p:spTree>
    <p:extLst>
      <p:ext uri="{BB962C8B-B14F-4D97-AF65-F5344CB8AC3E}">
        <p14:creationId xmlns:p14="http://schemas.microsoft.com/office/powerpoint/2010/main" val="270051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C9A5B-5CC7-4406-B50E-6D850215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M5–M7  运行与费用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E6ACC-2122-4437-9B15-59244455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本机服务与付费模型承担不同职责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E4205-AE36-4450-B22A-E88BFD06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68B28-06CD-4240-B943-A7956B0C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DB7FD-6FE7-424C-9219-E6F01606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6400800"/>
              </a:tblGrid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已实现职责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Dash、Plotly、AG Grid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六字段、筛选、图表、导出和问答入口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PostgreSQL、pgvector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原文版本、SQL 计数、词项与向量检索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SDK、Pydantic、pySBD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结构化回答、原句目录与字符切片校验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6210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Luna、embedding、Lingua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付费生成／向量，本地保守语言检查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9B561-33C7-4317-88AF-6EA4E74D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免费搜索与 SQL 计数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D50B8-3EA5-4460-9638-4187EAF0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33975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Paid answer 单独触发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E7BA0-9DD9-47C9-8F8B-26810C90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应用预算 $100／月，调用前预留、调用后结算。模型不可用时保留检索。</a:t>
            </a:r>
          </a:p>
        </p:txBody>
      </p:sp>
    </p:spTree>
    <p:extLst>
      <p:ext uri="{BB962C8B-B14F-4D97-AF65-F5344CB8AC3E}">
        <p14:creationId xmlns:p14="http://schemas.microsoft.com/office/powerpoint/2010/main" val="15424137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08878-C20F-4AC5-9109-AD2E4B5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M6  验证范围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17B1D-62E1-4583-90B1-D4FB418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最新开发运行可追溯，人工验收仍待完成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1B5A5-1D30-4D15-9240-956BEB7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C9236-23D5-43E6-B1FF-E4900169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08702-31D6-45F7-9902-E6B89A5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7239000" cy="3219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67200"/>
                <a:gridCol w="2971800"/>
              </a:tblGrid>
              <a:tr h="536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开发检查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保存结果</a:t>
                      </a:r>
                    </a:p>
                  </a:txBody>
                  <a:tcPr marL="91440" marR="91440" marT="45720" marB="45720">
                    <a:solidFill>
                      <a:srgbClr val="176B63"/>
                    </a:solidFill>
                  </a:tcPr>
                </a:tc>
              </a:tr>
              <a:tr h="536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命中记录 / 必需片段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8  /  13 / 13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36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证据定位 / 引文定位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 / 85  /  16 / 16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36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 计数 / 无证据拒答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2  /  3 / 3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36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回答语言启发式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match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  <a:tr h="536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人工语义支持率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C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未测量</a:t>
                      </a:r>
                    </a:p>
                  </a:txBody>
                  <a:tcPr marL="91440" marR="91440" marT="45720" marB="45720"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9A95E-0BD5-4FF1-BF11-54BF7A3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71650"/>
            <a:ext cx="3048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8 回答</a:t>
            </a:r>
          </a:p>
          <a:p xmlns:a="http://schemas.openxmlformats.org/drawingml/2006/main">
            <a:pPr>
              <a:def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2 计数</a:t>
            </a:r>
          </a:p>
          <a:p xmlns:a="http://schemas.openxmlformats.org/drawingml/2006/main">
            <a:pPr>
              <a:def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3 拒答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7897C-FB51-4EED-91C6-4CBC9C63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95725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本轮费用</a:t>
            </a:r>
          </a:p>
          <a:p xmlns:a="http://schemas.openxmlformats.org/drawingml/2006/main">
            <a:pPr>
              <a:defRPr sz="187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$0.01632325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90FFA-53F9-4CF0-89E7-33448F52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0.2.2：相关 52 项测试通过。0.2.1：历史全套 164 项通过。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B4A7C-0203-455B-90CA-A6F6AB17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开发草案已用于迭代；社交／跨库 7 题待数据，16 条引用待人工裁定。</a:t>
            </a:r>
          </a:p>
        </p:txBody>
      </p:sp>
    </p:spTree>
    <p:extLst>
      <p:ext uri="{BB962C8B-B14F-4D97-AF65-F5344CB8AC3E}">
        <p14:creationId xmlns:p14="http://schemas.microsoft.com/office/powerpoint/2010/main" val="1126467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CCA90-6A72-4004-9505-20EEA927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M4、M6–M8  交付边界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D1296-365B-41A3-A541-DF2E5A4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交接已有实现，继续完成双数据集交付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570DC-2A0F-4163-ADB1-9A7ECE2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D0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6B15-BEF3-45BE-B013-8E7805C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CISS Observatory   研究预览 0.2.2  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3C1D3-DD75-4F9C-BADF-8BA17FC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B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11541-06F7-4B15-A979-66DE9FE2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6B63"/>
                </a:solidFill>
                <a:latin typeface="Microsoft YaHei"/>
                <a:ea typeface="Microsoft YaHei"/>
                <a:cs typeface="Microsoft YaHei"/>
              </a:rPr>
              <a:t>接手入口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F08F5-ED02-45B8-88A1-99DB9A6B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095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README 与 handoff</a:t>
            </a:r>
          </a:p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运行说明、用户指南、架构与数据字典</a:t>
            </a:r>
          </a:p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锁定依赖、脚本、测试与保存的开发证据</a:t>
            </a:r>
          </a:p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本版 PPTX、中文演示脚本和人工复核表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ACD23-5FE0-40D2-A6AD-8396F11E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71650"/>
            <a:ext cx="511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362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3622C"/>
                </a:solidFill>
                <a:latin typeface="Microsoft YaHei"/>
                <a:ea typeface="Microsoft YaHei"/>
                <a:cs typeface="Microsoft YaHei"/>
              </a:rPr>
              <a:t>仍需完成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B9F3D-B077-4E28-8B0A-3FC4D4F3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00300"/>
            <a:ext cx="51149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真实社交导出与跨库验证</a:t>
            </a:r>
          </a:p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指定 GitHub 仓库交付</a:t>
            </a:r>
          </a:p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Cloudflare 固定域名与外部访问</a:t>
            </a:r>
          </a:p>
          <a:p xmlns:a="http://schemas.openxmlformats.org/drawingml/2006/main">
            <a:pPr>
              <a:def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独立人工验收及最终双数据集演示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1656C-0683-47DC-AAFD-2F3AFF2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C3A"/>
                </a:solidFill>
                <a:latin typeface="Microsoft YaHei"/>
                <a:ea typeface="Microsoft YaHei"/>
                <a:cs typeface="Microsoft YaHei"/>
              </a:rPr>
              <a:t>单人主导、AI 辅助。按模块收束交付，保留每项证据与未决边界。</a:t>
            </a:r>
          </a:p>
        </p:txBody>
      </p:sp>
    </p:spTree>
    <p:extLst>
      <p:ext uri="{BB962C8B-B14F-4D97-AF65-F5344CB8AC3E}">
        <p14:creationId xmlns:p14="http://schemas.microsoft.com/office/powerpoint/2010/main" val="1431151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2026-09-16T19:20:13.6890000Z</dcterms:created>
  <dcterms:modified xsi:type="dcterms:W3CDTF">2026-09-16T19:20:13.6890000Z</dcterms:modified>
</coreProperties>
</file>