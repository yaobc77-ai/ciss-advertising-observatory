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42dc52bbdc424f" /><Relationship Type="http://schemas.openxmlformats.org/officeDocument/2006/relationships/extended-properties" Target="/docProps/app.xml" Id="R0116b7233afd4e92" /><Relationship Type="http://schemas.openxmlformats.org/officeDocument/2006/relationships/officeDocument" Target="/ppt/presentation.xml" Id="Re8f285f0eb564d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4d0bfc8c994d01"/>
  </p:sldMasterIdLst>
  <p:notesMasterIdLst>
    <p:notesMasterId xmlns:r="http://schemas.openxmlformats.org/officeDocument/2006/relationships" r:id="R8d719af069154cfd"/>
  </p:notesMasterIdLst>
  <p:sldIdLst>
    <p:sldId xmlns:r="http://schemas.openxmlformats.org/officeDocument/2006/relationships" id="256" r:id="R7d40cdafe6264c43"/>
    <p:sldId xmlns:r="http://schemas.openxmlformats.org/officeDocument/2006/relationships" id="257" r:id="Rc71f8056e99d46d5"/>
    <p:sldId xmlns:r="http://schemas.openxmlformats.org/officeDocument/2006/relationships" id="258" r:id="Ra56df1fe541d4727"/>
    <p:sldId xmlns:r="http://schemas.openxmlformats.org/officeDocument/2006/relationships" id="259" r:id="R940eaee6d20b401f"/>
    <p:sldId xmlns:r="http://schemas.openxmlformats.org/officeDocument/2006/relationships" id="260" r:id="Rdf983cfe98ea4881"/>
    <p:sldId xmlns:r="http://schemas.openxmlformats.org/officeDocument/2006/relationships" id="261" r:id="R24d6b44249b945e6"/>
    <p:sldId xmlns:r="http://schemas.openxmlformats.org/officeDocument/2006/relationships" id="262" r:id="Rcaa8dd202ae84b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5e3812cc80406e" /><Relationship Type="http://schemas.openxmlformats.org/officeDocument/2006/relationships/slideMaster" Target="/ppt/slideMasters/slideMaster1.xml" Id="Rfd4d0bfc8c994d01" /><Relationship Type="http://schemas.openxmlformats.org/officeDocument/2006/relationships/notesMaster" Target="/ppt/notesMasters/notesMaster1.xml" Id="R8d719af069154cfd" /><Relationship Type="http://schemas.openxmlformats.org/officeDocument/2006/relationships/presProps" Target="/ppt/presProps.xml" Id="R73a166956b7640e1" /><Relationship Type="http://schemas.openxmlformats.org/officeDocument/2006/relationships/tableStyles" Target="/ppt/tableStyles.xml" Id="R800516083cff44ea" /><Relationship Type="http://schemas.openxmlformats.org/officeDocument/2006/relationships/slide" Target="/ppt/slides/slide1.xml" Id="R7d40cdafe6264c43" /><Relationship Type="http://schemas.openxmlformats.org/officeDocument/2006/relationships/slide" Target="/ppt/slides/slide2.xml" Id="Rc71f8056e99d46d5" /><Relationship Type="http://schemas.openxmlformats.org/officeDocument/2006/relationships/slide" Target="/ppt/slides/slide3.xml" Id="Ra56df1fe541d4727" /><Relationship Type="http://schemas.openxmlformats.org/officeDocument/2006/relationships/slide" Target="/ppt/slides/slide4.xml" Id="R940eaee6d20b401f" /><Relationship Type="http://schemas.openxmlformats.org/officeDocument/2006/relationships/slide" Target="/ppt/slides/slide5.xml" Id="Rdf983cfe98ea4881" /><Relationship Type="http://schemas.openxmlformats.org/officeDocument/2006/relationships/slide" Target="/ppt/slides/slide6.xml" Id="R24d6b44249b945e6" /><Relationship Type="http://schemas.openxmlformats.org/officeDocument/2006/relationships/slide" Target="/ppt/slides/slide7.xml" Id="Rcaa8dd202ae8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21a8e2169b4d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c5060aa534671" /><Relationship Type="http://schemas.openxmlformats.org/officeDocument/2006/relationships/notesMaster" Target="/ppt/notesMasters/notesMaster1.xml" Id="R63cceb6cbd4c47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e061dc31c41ea" /><Relationship Type="http://schemas.openxmlformats.org/officeDocument/2006/relationships/notesMaster" Target="/ppt/notesMasters/notesMaster1.xml" Id="Rdffa16c97ddf4f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693fa3dda4b48" /><Relationship Type="http://schemas.openxmlformats.org/officeDocument/2006/relationships/notesMaster" Target="/ppt/notesMasters/notesMaster1.xml" Id="Rae8aa95c0855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9109f6ffd8425d" /><Relationship Type="http://schemas.openxmlformats.org/officeDocument/2006/relationships/notesMaster" Target="/ppt/notesMasters/notesMaster1.xml" Id="R82b3142ccf2f4e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6eba4b6dfc4ac8" /><Relationship Type="http://schemas.openxmlformats.org/officeDocument/2006/relationships/notesMaster" Target="/ppt/notesMasters/notesMaster1.xml" Id="Rf292c2de22dc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a9321726a403a" /><Relationship Type="http://schemas.openxmlformats.org/officeDocument/2006/relationships/notesMaster" Target="/ppt/notesMasters/notesMaster1.xml" Id="Rb7b44f68611e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e9e458674049cd" /><Relationship Type="http://schemas.openxmlformats.org/officeDocument/2006/relationships/notesMaster" Target="/ppt/notesMasters/notesMaster1.xml" Id="R9dc1f79b6e09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本次展示当前真实原生广告语料上的研究预览。完整项目仍包括社交广告数据及公众交付。本文件不表示最终验收完成。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ads\docs\data_dictionary.md</a:t>
            </a:r>
          </a:p>
          <a:p xmlns:a="http://schemas.openxmlformats.org/drawingml/2006/main">
            <a:r>
              <a:t>C:\Users\yaobc\Documents\ChatGPT\549 native ads\docs\acceptance_status.md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项目目标是双数据集 Dashboard 与 RAG。原生数据已经真实接入。社交数据导出尚未提供，因此界面保留独立入口并明确提示 not connected。CLAIMS 当前只提供历史保存标签，后端集成属于后续工作。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C:/Users/yaobc/Downloads/[FA26] DS 549_ CISS Fossil Fuel and Animal Agriculture Advertising Observatory (1).docx</a:t>
            </a:r>
          </a:p>
          <a:p xmlns:a="http://schemas.openxmlformats.org/drawingml/2006/main">
            <a:r>
              <a:t>C:\Users\yaobc\Documents\ChatGPT\549 native ads\docs\implementation_contract.md</a:t>
            </a:r>
          </a:p>
          <a:p xmlns:a="http://schemas.openxmlformats.org/drawingml/2006/main">
            <a:r>
              <a:t>C:\Users\yaobc\Documents\ChatGPT\549 native ads\docs\architecture.md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收录 268 条，其中 256 条可计数，221 条具有可检索正文或合格前缀，形成 510 个块。这三个记录数不是独立样本组。20 个日期冲突保留为未知。20 条记录仅检索明确导航标记之前的前缀，保留原始全文。94 条疑似截断为启发式提示，不能断言截断原因，也不能据此得出全文中不存在某说法。各质量标记可能重叠。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ads\docs\data_dictionary.md lines 69–92</a:t>
            </a:r>
          </a:p>
          <a:p xmlns:a="http://schemas.openxmlformats.org/drawingml/2006/main">
            <a:r>
              <a:t>C:\Users\yaobc\Documents\ChatGPT\549 native ads\outputs\native_import_final.json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 Python 包加一个 PostgreSQL 数据库提供主要应用。免费关键词检索不调用模型。付费问答先应用结构化筛选，再融合关键词与精确向量检索，调用 Responses 并验证引文。字符匹配验证只能确认引文来自原文，语义支持仍需人工评价。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ads\docs\architecture.md</a:t>
            </a:r>
          </a:p>
          <a:p xmlns:a="http://schemas.openxmlformats.org/drawingml/2006/main">
            <a:r>
              <a:t>C:\Users\yaobc\Documents\ChatGPT\549 native ads\docs\operations.md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演示顺序：打开 Native 默认视图。选择 exxonmobil，查看 15 条，再导出并核对 15 行。调整日期范围并切换 Include unknown dates，避免为未实测的具体日期范围预先承诺记录数。随后清除 sponsor/date 条件，以免费关键词 Search keywords 搜索 CCUS 和 biogas，展开证据并展示 record ID 与 text version。不要把旧结果当作新筛选结果，需重新提交搜索。演示保存的付费结果即可，不自动产生新的 API 费用。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ads\src\observatory\app.py</a:t>
            </a:r>
          </a:p>
          <a:p xmlns:a="http://schemas.openxmlformats.org/drawingml/2006/main">
            <a:r>
              <a:t>C:\Users\yaobc\Documents\ChatGPT\549 native ads\tests\test_app.py</a:t>
            </a:r>
          </a:p>
          <a:p xmlns:a="http://schemas.openxmlformats.org/drawingml/2006/main">
            <a:r>
              <a:t>Local browser verification on 2026-09-16: http://127.0.0.1:8050/</a:t>
            </a:r>
          </a:p>
          <a:p xmlns:a="http://schemas.openxmlformats.org/drawingml/2006/main">
            <a:r>
              <a:t>CSV checked: C:/Users/yaobc/Downloads/native-advertising.csv (15 unique record IDs, sponsor exxonmobil)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两个成功样例是现有保存结果，并非完整性能评价。无证据问题涉及 Mars 1890，返回 insufficient_evidence 且 citations 为空。前两个引句描述广告说法，不能等同于外部事实已经成立。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CCUS evidence: {"evidence_id":"11861b77557f02954c01bb1bbb953f6d3685cda32f23303b5ad926ca1d7ea0fd","record_id":"e3701f9b-e7b3-5811-9282-da6b0ad776c3","version_id":"35e42f5f3e77b7b55d0095b7564216fa176930f4a5f76f56f702bc8b6ab6c327","title":"CCUS, the industry that will change industry","url":"https://www.cnbc.com/advertorial/ccus-the-industry-that-will-change-industry-/"}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Biogas evidence: {"evidence_id":"4fda21bde43e1bf8d36bc8145d94fd72406d5cf6f24fe878658b9790dd8e4cef","record_id":"01374b51-3fae-5fe7-8c60-b4bffa2b7ba0","version_id":"0d0146b9d07a012d9d6290df34030655fca31de01baf84cb3bd97006690a1acf","title":"Biogas to offset air travel emissions","url":"https://www.cnbc.com/advertorial/2018/11/09/biogas-to-offset-air-travel-emissions.html"}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ads\outputs\live_ccs_scoped.json</a:t>
            </a:r>
          </a:p>
          <a:p xmlns:a="http://schemas.openxmlformats.org/drawingml/2006/main">
            <a:r>
              <a:t>C:\Users\yaobc\Documents\ChatGPT\549 native ads\outputs\live_biogas.json</a:t>
            </a:r>
          </a:p>
          <a:p xmlns:a="http://schemas.openxmlformats.org/drawingml/2006/main">
            <a:r>
              <a:t>C:\Users\yaobc\Documents\ChatGPT\549 native ads\outputs\live_no_evidence.json</a:t>
            </a:r>
          </a:p>
          <a:p xmlns:a="http://schemas.openxmlformats.org/drawingml/2006/main">
            <a:r>
              <a:t>https://www.cnbc.com/advertorial/ccus-the-industry-that-will-change-industry-/</a:t>
            </a:r>
          </a:p>
          <a:p xmlns:a="http://schemas.openxmlformats.org/drawingml/2006/main">
            <a:r>
              <a:t>https://www.cnbc.com/advertorial/2018/11/09/biogas-to-offset-air-travel-emissions.html</a:t>
            </a:r>
          </a:p>
          <a:p xmlns:a="http://schemas.openxmlformats.org/drawingml/2006/main">
            <a:r>
              <a:t>C:\Users\yaobc\Documents\ChatGPT\549 native ads\docs\evaluation_protocol.md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当前可交付本机研究预览。社交实料、GitHub 目标和固定域名由用户暂缓提供，保持预留并且不算已接入。完整评估和跨数据集验收仍有待完成。CLAIMS 后端与动物农业扩展仍属后续范围。讲稿提供真实演示步骤、保存结果位置和故障降级说明。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C:\Users\yaobc\Documents\ChatGPT\549 native ads\README.md</a:t>
            </a:r>
          </a:p>
          <a:p xmlns:a="http://schemas.openxmlformats.org/drawingml/2006/main">
            <a:r>
              <a:t>C:\Users\yaobc\Documents\ChatGPT\549 native ads\docs\operations.md</a:t>
            </a:r>
          </a:p>
          <a:p xmlns:a="http://schemas.openxmlformats.org/drawingml/2006/main">
            <a:r>
              <a:t>C:\Users\yaobc\Documents\ChatGPT\549 native ads\docs\user_guide.md</a:t>
            </a:r>
          </a:p>
          <a:p xmlns:a="http://schemas.openxmlformats.org/drawingml/2006/main">
            <a:r>
              <a:t>C:\Users\yaobc\Documents\ChatGPT\549 native ads\docs\acceptance_status.md</a:t>
            </a:r>
          </a:p>
          <a:p xmlns:a="http://schemas.openxmlformats.org/drawingml/2006/main">
            <a:r>
              <a:t>C:\Users\yaobc\Documents\ChatGPT\549 native ads\docs\evaluation_protocol.md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e2e038f96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4f1257abf8409c" /><Relationship Type="http://schemas.openxmlformats.org/officeDocument/2006/relationships/slideLayout" Target="/ppt/slideLayouts/slideLayout1.xml" Id="R7c769782703247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769782703247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319e7c36c410f" /><Relationship Type="http://schemas.openxmlformats.org/officeDocument/2006/relationships/notesSlide" Target="/ppt/notesSlides/notesSlide1.xml" Id="Re078b5f992e94b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195a338154b34" /><Relationship Type="http://schemas.openxmlformats.org/officeDocument/2006/relationships/notesSlide" Target="/ppt/notesSlides/notesSlide2.xml" Id="Rd18af97604d944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8e2c69ae94912" /><Relationship Type="http://schemas.openxmlformats.org/officeDocument/2006/relationships/chart" Target="/ppt/slides/charts/chart1.xml" Id="R1f5938162f8243ab" /><Relationship Type="http://schemas.openxmlformats.org/officeDocument/2006/relationships/notesSlide" Target="/ppt/notesSlides/notesSlide3.xml" Id="R98c3f61685ad4e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5163faea3477c" /><Relationship Type="http://schemas.openxmlformats.org/officeDocument/2006/relationships/notesSlide" Target="/ppt/notesSlides/notesSlide4.xml" Id="R3dfa3bce2b2a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8d23db17b4cdc" /><Relationship Type="http://schemas.openxmlformats.org/officeDocument/2006/relationships/notesSlide" Target="/ppt/notesSlides/notesSlide5.xml" Id="Re88aafa7f91e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b365857494842" /><Relationship Type="http://schemas.openxmlformats.org/officeDocument/2006/relationships/notesSlide" Target="/ppt/notesSlides/notesSlide6.xml" Id="R9c5f3a25cbde4a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eda8affa14306" /><Relationship Type="http://schemas.openxmlformats.org/officeDocument/2006/relationships/notesSlide" Target="/ppt/notesSlides/notesSlide7.xml" Id="R691db019783042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07B76"/>
            </a:solidFill>
          </c:spPr>
          <c:cat>
            <c:strRef>
              <c:f>'Chart Data'!$A$2:$A$4</c:f>
              <c:strCache>
                <c:ptCount val="3"/>
                <c:pt idx="0">
                  <c:v>Imported</c:v>
                </c:pt>
                <c:pt idx="1">
                  <c:v>Countable</c:v>
                </c:pt>
                <c:pt idx="2">
                  <c:v>Searchable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268</c:v>
                </c:pt>
                <c:pt idx="1">
                  <c:v>256</c:v>
                </c:pt>
                <c:pt idx="2">
                  <c:v>221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73B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6777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6D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6F4E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6F4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A509-293E-4E29-94E4-029C779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4E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4EC"/>
                </a:solidFill>
                <a:latin typeface="Arial"/>
                <a:ea typeface="Arial"/>
                <a:cs typeface="Arial"/>
              </a:rPr>
              <a:t>Research preview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527D2-F7DB-466E-8E4F-1415977C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BBDAD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BBDAD2"/>
                </a:solidFill>
                <a:latin typeface="Arial"/>
                <a:ea typeface="Arial"/>
                <a:cs typeface="Arial"/>
              </a:rPr>
              <a:t>Native corpus 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19507-6EC8-4086-BF28-15A80151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4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4EC"/>
                </a:solidFill>
                <a:latin typeface="Arial"/>
                <a:ea typeface="Arial"/>
                <a:cs typeface="Arial"/>
              </a:rPr>
              <a:t>CISS Advertising Observatory</a:t>
            </a:r>
          </a:p>
          <a:p xmlns:a="http://schemas.openxmlformats.org/drawingml/2006/main">
            <a:pPr>
              <a:defRPr sz="2175" b="0">
                <a:solidFill>
                  <a:srgbClr val="F6F4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4EC"/>
                </a:solidFill>
                <a:latin typeface="Arial"/>
                <a:ea typeface="Arial"/>
                <a:cs typeface="Arial"/>
              </a:rPr>
              <a:t>FA26 DS 549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52AD-6F4F-4FFD-982C-0524063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DAD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DAD2"/>
                </a:solidFill>
                <a:latin typeface="Arial"/>
                <a:ea typeface="Arial"/>
                <a:cs typeface="Arial"/>
              </a:rPr>
              <a:t>16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33486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6B37B-5316-4263-9B60-28F79CCD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FA26 dashboard and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80437-38D7-4C88-B717-D8B6A51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2 /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557D3-4C9A-40C1-8667-7B164AA9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A public dashboard and evidence-grounded questions</a:t>
            </a:r>
          </a:p>
          <a:p xmlns:a="http://schemas.openxmlformats.org/drawingml/2006/main">
            <a:pPr>
              <a:defRPr sz="2400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across two fossil fuel advertising collections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2800350"/>
          <a:ext xmlns:a="http://schemas.openxmlformats.org/drawingml/2006/main" cx="108966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18185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Collection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Current state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Native advertising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Real corpus connected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Social advertising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Adapter and separate view ready</a:t>
                      </a:r>
                    </a:p>
                    <a:p>
                      <a:r>
                        <a:rPr sz="202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Real dataset pending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B0175-265A-4E21-8F20-F63E908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Shared outputs: filtered records, comparisons, CSV export and cited answers</a:t>
            </a:r>
          </a:p>
        </p:txBody>
      </p:sp>
    </p:spTree>
    <p:extLst>
      <p:ext uri="{BB962C8B-B14F-4D97-AF65-F5344CB8AC3E}">
        <p14:creationId xmlns:p14="http://schemas.microsoft.com/office/powerpoint/2010/main" val="308778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3EBD0-7C75-41DA-9BAE-6D21262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Native corpus and remaining text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AF38A-99A9-49EE-A806-32CCF73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3 / 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52450" y="1619250"/>
          <a:ext xmlns:a="http://schemas.openxmlformats.org/drawingml/2006/main" cx="68103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5938162f8243a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21625-59B5-4A04-A5A6-84B49198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04975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510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C7594-CB91-4017-A245-D7E65E3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66975"/>
            <a:ext cx="3171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indexed text chunks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4F5CF-6BA6-45B4-BB68-01BED6A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52800"/>
            <a:ext cx="34766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20 unknown dates</a:t>
            </a:r>
          </a:p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20 texts limited to prefixes</a:t>
            </a:r>
          </a:p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94 suspected truncations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8379-0F67-41AE-A371-769E1C89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Searchable passages support local evidence. Whole-article completeness still needs review.</a:t>
            </a:r>
          </a:p>
        </p:txBody>
      </p:sp>
    </p:spTree>
    <p:extLst>
      <p:ext uri="{BB962C8B-B14F-4D97-AF65-F5344CB8AC3E}">
        <p14:creationId xmlns:p14="http://schemas.microsoft.com/office/powerpoint/2010/main" val="150658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27A13-E009-4D09-A8A3-8BDDA4EF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Implemented technical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6163F-1C10-4073-B8BE-F9E05E19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4 / 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543050"/>
          <a:ext xmlns:a="http://schemas.openxmlformats.org/drawingml/2006/main" cx="108966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38625"/>
                <a:gridCol w="432435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Visible result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Source intake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Versioned CSV / XLSX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Records and quality flags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PostgreSQL + pgvector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Records and passage offsets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Browse and search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Python Dash + AG Grid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Free search, charts, table and CSV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Paid answer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OpenAI embeddings + Responses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Answer from retrieved evidence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Response checks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Citation checks and budgets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Cited answer or insufficient evidence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7F183-3442-422C-99FD-C766A656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066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The server keeps credentials and internal source fields out of the public response.</a:t>
            </a:r>
          </a:p>
        </p:txBody>
      </p:sp>
    </p:spTree>
    <p:extLst>
      <p:ext uri="{BB962C8B-B14F-4D97-AF65-F5344CB8AC3E}">
        <p14:creationId xmlns:p14="http://schemas.microsoft.com/office/powerpoint/2010/main" val="79658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DF251-906A-4138-BF34-7EB561E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Native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A5836-EFCC-4C19-B47C-1A1AACC2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5 /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EA54-B456-4900-8602-E891EF09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80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D83A2-3508-4559-A80D-95320372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19250"/>
            <a:ext cx="984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Native collection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984DF-4FD2-420E-B014-93E7AC5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7875"/>
            <a:ext cx="9848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256 countable records in the unfiltered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0D3B-4256-4712-A9EA-DA9CB146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80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B77A7-20B3-4F1C-8246-F886E5A8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47950"/>
            <a:ext cx="984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Sponsor: exxonmobil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F9E78-1D9D-4444-8560-F987322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76575"/>
            <a:ext cx="9848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15 selected records and 15 exported CSV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F0224-B2E0-455E-B662-83733E82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80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23608-6DE4-46B3-837B-3FB02376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76650"/>
            <a:ext cx="984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Publication 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1D5D7-FBF8-431F-B3EB-66B4D0DB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05275"/>
            <a:ext cx="9848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Adjust the date range and include or exclude unknown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CE86-ABB2-463E-8DDB-1067215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8096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BFF14-CE02-4524-AEB3-E0A2A67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05350"/>
            <a:ext cx="984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CCUS and biogas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BDFE9-B225-44B1-94FC-E1E751D9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33975"/>
            <a:ext cx="9848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Run free keyword search and inspect the retrieved passage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C0E94-CDED-4F21-8559-5B271DBF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007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Original source, record ID and text version remain available with each passage.</a:t>
            </a:r>
          </a:p>
        </p:txBody>
      </p:sp>
    </p:spTree>
    <p:extLst>
      <p:ext uri="{BB962C8B-B14F-4D97-AF65-F5344CB8AC3E}">
        <p14:creationId xmlns:p14="http://schemas.microsoft.com/office/powerpoint/2010/main" val="2094921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1DF12-0B54-4152-9EDE-1C8896D3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Early model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EF1E-227F-491F-9B59-3B0DF92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6 /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5EC33-3533-4F3A-8B71-C5E202D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19225"/>
            <a:ext cx="10896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7B7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07B76"/>
                </a:solidFill>
                <a:latin typeface="Arial"/>
                <a:ea typeface="Arial"/>
                <a:cs typeface="Arial"/>
              </a:rPr>
              <a:t>Two saved answers and one insufficient-evidence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C4D9F-460A-474A-9202-7C17DD60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CCUS, the industry that will change industry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479B8-E9C8-46A5-9905-B6C8D29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10896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“In some industries, CCUS can reduce carbon emissions by up to 90%.”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175AB-0B13-4111-A025-C61B9B26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Biogas to offset air travel emissions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A1DDF-7D3B-432C-A094-1D67B6E6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896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B3B"/>
                </a:solidFill>
                <a:latin typeface="Arial"/>
                <a:ea typeface="Arial"/>
                <a:cs typeface="Arial"/>
              </a:rPr>
              <a:t>“from reducing the number of trips to offsetting flights that can't be avoided”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BD35A-4D3B-429F-A91B-7F2CF00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896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These quotations describe advertising claims. The selected checks establish API and citation behavior.</a:t>
            </a:r>
          </a:p>
          <a:p xmlns:a="http://schemas.openxmlformats.org/drawingml/2006/main">
            <a:pPr>
              <a:defRPr sz="165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An accuracy estimate requires the planned evaluation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436936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DE197-92B2-4A9C-95F8-1FC7B471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Current handoff and reserved integrations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CBAE5-0793-49F3-9777-BD130097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38300"/>
          <a:ext xmlns:a="http://schemas.openxmlformats.org/drawingml/2006/main" cx="10896600" cy="3438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48300"/>
                <a:gridCol w="5448300"/>
              </a:tblGrid>
              <a:tr h="68770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Available now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4EC"/>
                          </a:solidFill>
                          <a:latin typeface="Arial"/>
                          <a:ea typeface="Arial"/>
                          <a:cs typeface="Arial"/>
                        </a:rPr>
                        <a:t>Still to complete</a:t>
                      </a:r>
                    </a:p>
                  </a:txBody>
                  <a:tcPr marL="133350" marR="133350" marT="114300" marB="114300" anchor="ctr">
                    <a:solidFill>
                      <a:srgbClr val="173B3B"/>
                    </a:solidFill>
                  </a:tcPr>
                </a:tc>
              </a:tr>
              <a:tr h="68770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Local native dashboard and evidence search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Social corpus connection and evaluation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8770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Saved model checks and evaluation protocol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Broader human review of answer support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8770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Source code, tests and operating guides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Designated GitHub remote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  <a:tr h="68770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Local application at 127.0.0.1:8050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B3B"/>
                          </a:solidFill>
                          <a:latin typeface="Arial"/>
                          <a:ea typeface="Arial"/>
                          <a:cs typeface="Arial"/>
                        </a:rPr>
                        <a:t>Fixed public domain and external verification</a:t>
                      </a:r>
                    </a:p>
                  </a:txBody>
                  <a:tcPr marL="133350" marR="133350" marT="114300" marB="114300" anchor="ctr">
                    <a:solidFill>
                      <a:srgbClr val="F6F4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ACD1A-7645-462D-821F-ADDB7E84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B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B3B"/>
                </a:solidFill>
                <a:latin typeface="Arial"/>
                <a:ea typeface="Arial"/>
                <a:cs typeface="Arial"/>
              </a:rPr>
              <a:t>Handoff entry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04183-28E3-43D8-A61B-5FBEB766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README.md     docs/user_guide.md     docs/operations.md</a:t>
            </a:r>
          </a:p>
          <a:p xmlns:a="http://schemas.openxmlformats.org/drawingml/2006/main">
            <a:pPr>
              <a:defRPr sz="1725" b="0">
                <a:solidFill>
                  <a:srgbClr val="6677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7772"/>
                </a:solidFill>
                <a:latin typeface="Arial"/>
                <a:ea typeface="Arial"/>
                <a:cs typeface="Arial"/>
              </a:rPr>
              <a:t>deliverables/demo_script.zh-CN.md     docs/acceptance_status.md</a:t>
            </a:r>
          </a:p>
        </p:txBody>
      </p:sp>
    </p:spTree>
    <p:extLst>
      <p:ext uri="{BB962C8B-B14F-4D97-AF65-F5344CB8AC3E}">
        <p14:creationId xmlns:p14="http://schemas.microsoft.com/office/powerpoint/2010/main" val="839775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2026-09-16T17:18:57.0230000Z</dcterms:created>
  <dcterms:modified xsi:type="dcterms:W3CDTF">2026-09-16T17:18:57.0230000Z</dcterms:modified>
</coreProperties>
</file>