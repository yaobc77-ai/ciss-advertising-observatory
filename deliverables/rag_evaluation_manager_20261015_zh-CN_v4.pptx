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329a17cd9004811" /><Relationship Type="http://schemas.openxmlformats.org/officeDocument/2006/relationships/extended-properties" Target="/docProps/app.xml" Id="R80192fbe6ec94adc" /><Relationship Type="http://schemas.openxmlformats.org/officeDocument/2006/relationships/officeDocument" Target="/ppt/presentation.xml" Id="R1907d7bfdaf2466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216f207158b431e"/>
  </p:sldMasterIdLst>
  <p:notesMasterIdLst>
    <p:notesMasterId xmlns:r="http://schemas.openxmlformats.org/officeDocument/2006/relationships" r:id="Rda8727a8b6ac4860"/>
  </p:notesMasterIdLst>
  <p:sldIdLst>
    <p:sldId xmlns:r="http://schemas.openxmlformats.org/officeDocument/2006/relationships" id="256" r:id="R648a5c4d1f634bdd"/>
    <p:sldId xmlns:r="http://schemas.openxmlformats.org/officeDocument/2006/relationships" id="257" r:id="R1a76db85e3bd4ab3"/>
    <p:sldId xmlns:r="http://schemas.openxmlformats.org/officeDocument/2006/relationships" id="258" r:id="R904e6b092723472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85a020cf99e4176" /><Relationship Type="http://schemas.openxmlformats.org/officeDocument/2006/relationships/slideMaster" Target="/ppt/slideMasters/slideMaster1.xml" Id="Rb216f207158b431e" /><Relationship Type="http://schemas.openxmlformats.org/officeDocument/2006/relationships/notesMaster" Target="/ppt/notesMasters/notesMaster1.xml" Id="Rda8727a8b6ac4860" /><Relationship Type="http://schemas.openxmlformats.org/officeDocument/2006/relationships/presProps" Target="/ppt/presProps.xml" Id="R3e2d009098b742a9" /><Relationship Type="http://schemas.openxmlformats.org/officeDocument/2006/relationships/tableStyles" Target="/ppt/tableStyles.xml" Id="R42bf86cecf494d1d" /><Relationship Type="http://schemas.openxmlformats.org/officeDocument/2006/relationships/slide" Target="/ppt/slides/slide1.xml" Id="R648a5c4d1f634bdd" /><Relationship Type="http://schemas.openxmlformats.org/officeDocument/2006/relationships/slide" Target="/ppt/slides/slide2.xml" Id="R1a76db85e3bd4ab3" /><Relationship Type="http://schemas.openxmlformats.org/officeDocument/2006/relationships/slide" Target="/ppt/slides/slide3.xml" Id="R904e6b092723472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340036d3d92401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c22ad5c371e4d0d" /><Relationship Type="http://schemas.openxmlformats.org/officeDocument/2006/relationships/notesMaster" Target="/ppt/notesMasters/notesMaster1.xml" Id="R806efec08cbf4ca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7667d4c6aad467b" /><Relationship Type="http://schemas.openxmlformats.org/officeDocument/2006/relationships/notesMaster" Target="/ppt/notesMasters/notesMaster1.xml" Id="Re5b5cf96b136463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b34024d82b9401b" /><Relationship Type="http://schemas.openxmlformats.org/officeDocument/2006/relationships/notesMaster" Target="/ppt/notesMasters/notesMaster1.xml" Id="Ra5afd0d9c318408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轮24道新来源派生题，10原生、10社交、4跨集合，12中文、12英文。各题原始问题直接进入检索，不进行查询改写。三路均在record_selection/record同阶段按输出首次出现顺序去重。关键词与向量为原始通道投影，混合为生产RRF结果，且混合含原生标题通道，不能当成只改融合权重的受控因果试验。代码冻结于2026-10-15，108文件manifest见D:\Projects\549 native ads\.runtime\retrieval_baseline_24_20261015\root/freeze.json。数据使用2026-10-08可验证完整备份的隔离快照，非已核验的10月15日在线数据。来源派生小样本不代表真实用户问题分布。相关性为AI辅助，非人工金标准或客户验收。0–3线性增益，binary relevance&gt;=2，NDCG使用log2位置折扣。MRR在K截断。P@K不足K仍以K为分母。Recall仅对已知已判相关池。Hit为前K至少命中一个相关来源的题数，不衡量全部找全。不评价端到端答案准确率。本轮没有使用原客户24题。来源：D:\Projects\549 native ads\.runtime\retrieval_baseline_24_20261015\scoring\results/stratified_metrics.json、independent_metrics.json、canonical/metrics.json、independent_verification.json；D:\Projects\549 native ads\.runtime\retrieval_baseline_24_20261015\root/questions.json、retrieval_freeze.json、judgment_freeze.json；D:\Projects\549 native ads\.runtime\retrieval_baseline_24_20261015\scoring\audit\source_cost_audit.json。 本页逐模式可评分分母：{"keyword":{"ndcg":24,"mrr":24,"precision":24,"recall":24},"vector":{"ndcg":24,"mrr":24,"precision":24,"recall":24},"hybrid":{"ndcg":24,"mrr":24,"precision":24,"recall":24}}。全24题逐题宏平均，三个来源组权重为10/24、10/24、4/24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轮24道新来源派生题，10原生、10社交、4跨集合，12中文、12英文。各题原始问题直接进入检索，不进行查询改写。三路均在record_selection/record同阶段按输出首次出现顺序去重。关键词与向量为原始通道投影，混合为生产RRF结果，且混合含原生标题通道，不能当成只改融合权重的受控因果试验。代码冻结于2026-10-15，108文件manifest见D:\Projects\549 native ads\.runtime\retrieval_baseline_24_20261015\root/freeze.json。数据使用2026-10-08可验证完整备份的隔离快照，非已核验的10月15日在线数据。来源派生小样本不代表真实用户问题分布。相关性为AI辅助，非人工金标准或客户验收。0–3线性增益，binary relevance&gt;=2，NDCG使用log2位置折扣。MRR在K截断。P@K不足K仍以K为分母。Recall仅对已知已判相关池。Hit为前K至少命中一个相关来源的题数，不衡量全部找全。不评价端到端答案准确率。本轮没有使用原客户24题。来源：D:\Projects\549 native ads\.runtime\retrieval_baseline_24_20261015\scoring\results/stratified_metrics.json、independent_metrics.json、canonical/metrics.json、independent_verification.json；D:\Projects\549 native ads\.runtime\retrieval_baseline_24_20261015\root/questions.json、retrieval_freeze.json、judgment_freeze.json；D:\Projects\549 native ads\.runtime\retrieval_baseline_24_20261015\scoring\audit\source_cost_audit.json。 本页逐模式可评分分母：{"keyword":{"ndcg":24,"mrr":24,"precision":24,"recall":24},"vector":{"ndcg":24,"mrr":24,"precision":24,"recall":24},"hybrid":{"ndcg":24,"mrr":24,"precision":24,"recall":24}}。已返回位置标注覆盖=674/674，与Judged@K（分母包含未返回位置）区分。固定10%按query/record哈希选择复判，另补每等级及无效primary，若有效两票分歧则第三盲票取中位数。1组未裁分歧按预定规则保留primary，相关结果仍为AI参考，不称全部通过三票裁决。judgment freeze原始记录：{"at_utc":"2026-10-15T21:11:30.429442+00:00","prompt_sha256":"8b2b9af9fbfe0ed4d980e4b8fadc3ea55883472879a1c4fc7052658606c6a4e0","primary_count":486,"review_count":66,"adjudication_count":13,"disagreement_count":11,"review_rule":"fixed hash10percent + ensure grades + invalid primaries; disagreements get third blind vote, median3; invalid primary uses first valid secondary; otherwise primary retained","unjudged_count":0,"final_sha256":"5ca10bf06f3c0fb357804a7a625cd3e43cb0a62f3ad99443bc403a635dbf31d2","unresolved_disagreement_count":1,"review_unjudged_count":11,"cost_or_pending_reserve_usd":0.17048746,"exact_locator_completion_count":8,"completion_phase":"same rubric, full source indexed units; only previously unjudged","completed_at_utc":"2026-10-15T21:13:57.734442+00:00"}。本轮用量计价精确值0.17048746美元，全部621次调用结算，阶段费用{"question_construction":"0.0117026","query_embedding":"0.00001690","relevance_primary":"0.1435036","relevance_review":"0.01083306","relevance_adjudication":"0.00228770","relevance_locator_completion":"0.0021436"}。费用包含定位补全等真实调用，不只含主判断。按保存的提供商token usage及配置价格独立复算，未独立核对供应商账单。历史日志三项语义补评分计划另在第3页，其预算不计入本轮。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来源：D:/Projects/549 native ads/docs/rag_three_metric_preflight_20261015.zh-CN.md；D:/Projects/549 native ads/.runtime/rag_three_metrics_preflight_20261015/root/cost_estimate.json。目前只完成日志可适配性预检，尚未完成评分器验证或执行评分。Context Precision可适配304题、2075个有序写作证据对象，其中7题最终生成失败但上下文仍可独立评估。普通写作Faithfulness为446题；另外495题多阶段名单筛查只能单列最终证据支持诊断。Answer Relevance1272题包含65题证据不足回答，应单列；排除11个服务错误。1283道有效题来自原B1K996题及N97、M95、R95，跨4个历史代码版本；不含旧278题/Customer24、P59/R2及P60–66。各指标分母不同，不能相加。基本估计精确值4.684937美元；可选诊断增加5.470479美元，共10.155416美元。沿用英文版已核验价格假设：gpt-5.6-luna标准输入0.20美元/百万token、输出1.20美元/百万token，text-embedding-3-small0.02美元/百万token；reasoning=none、单次、无重试。输出用量及预留均为估计。尚未授权或执行付费评分。标准RAGAS语义Context Recall未评分且不在本预算内。当前代码重新作答需要另行冻结数据、代码、范围、参考及费用上限。 本页保留历史日志三项语义补评分计划。304/446/1272各自为可适配题数，不能相加，也不是本轮24题检索的分数或分母。历史日志评分尚未执行，4.68/6.09/约7美元为原计划估算，本轮用户批准的24题检索费用另在第2页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08fabfd0f4414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41c82a4045499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108f6a57ab494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e95c7e1b3c4ac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67ceed60a548e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78c54da82a425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392D762-5C5D-4ECF-800D-EC795F67E6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B474E2D-1F0F-4EB4-A05B-8E878568282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D33A2CB-D802-4CDA-B598-5FFF059D2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03F9B31-9867-447F-8630-240BA5EC23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A37DFD9-577D-4BC9-97E7-847841A2DF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52235B6-1B53-4A77-85AF-137BC10518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C973CF6-2D54-4281-950D-E971824997A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6C2C069-4AB8-4DFB-8FE1-8C4F214A341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3217CF6-3546-4AA5-8A34-1A5643FB5F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B59B60A-67AC-4058-9495-78A07D2BF25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e9ae798f8664f9d" /><Relationship Type="http://schemas.openxmlformats.org/officeDocument/2006/relationships/slideLayout" Target="/ppt/slideLayouts/slideLayout1.xml" Id="Rc3cb2abe336e47bc" /><Relationship Type="http://schemas.openxmlformats.org/officeDocument/2006/relationships/slideLayout" Target="/ppt/slideLayouts/slideLayout2.xml" Id="R18fba03f243f4835" /><Relationship Type="http://schemas.openxmlformats.org/officeDocument/2006/relationships/slideLayout" Target="/ppt/slideLayouts/slideLayout3.xml" Id="Rf3352fc9e2cd4306" /><Relationship Type="http://schemas.openxmlformats.org/officeDocument/2006/relationships/slideLayout" Target="/ppt/slideLayouts/slideLayout4.xml" Id="R37d52c830c0a4bec" /><Relationship Type="http://schemas.openxmlformats.org/officeDocument/2006/relationships/slideLayout" Target="/ppt/slideLayouts/slideLayout5.xml" Id="R7494bedde04e4d69" /><Relationship Type="http://schemas.openxmlformats.org/officeDocument/2006/relationships/slideLayout" Target="/ppt/slideLayouts/slideLayout6.xml" Id="R619b4cbdf509435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3cb2abe336e47bc"/>
    <p:sldLayoutId xmlns:r="http://schemas.openxmlformats.org/officeDocument/2006/relationships" id="2147483650" r:id="R18fba03f243f4835"/>
    <p:sldLayoutId xmlns:r="http://schemas.openxmlformats.org/officeDocument/2006/relationships" id="2147483651" r:id="Rf3352fc9e2cd4306"/>
    <p:sldLayoutId xmlns:r="http://schemas.openxmlformats.org/officeDocument/2006/relationships" id="2147483652" r:id="R37d52c830c0a4bec"/>
    <p:sldLayoutId xmlns:r="http://schemas.openxmlformats.org/officeDocument/2006/relationships" id="2147483653" r:id="R7494bedde04e4d69"/>
    <p:sldLayoutId xmlns:r="http://schemas.openxmlformats.org/officeDocument/2006/relationships" id="2147483654" r:id="R619b4cbdf509435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370c3e4e4e4181" /><Relationship Type="http://schemas.openxmlformats.org/officeDocument/2006/relationships/notesSlide" Target="/ppt/notesSlides/notesSlide1.xml" Id="R598e85f22e11413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1d86dcedeb47f6" /><Relationship Type="http://schemas.openxmlformats.org/officeDocument/2006/relationships/notesSlide" Target="/ppt/notesSlides/notesSlide2.xml" Id="R596f1fffa54b4b7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d9e0ebaaab413e" /><Relationship Type="http://schemas.openxmlformats.org/officeDocument/2006/relationships/notesSlide" Target="/ppt/notesSlides/notesSlide3.xml" Id="R84823a7252b8499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868B99-FBEC-458B-8481-985A917F2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1108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830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3150" b="1">
                <a:solidFill>
                  <a:srgbClr val="18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83047"/>
                </a:solidFill>
                <a:latin typeface="Microsoft YaHei"/>
                <a:ea typeface="Microsoft YaHei"/>
                <a:cs typeface="Microsoft YaHei"/>
              </a:rPr>
              <a:t>最新本机 RAG 检索基线：前 5 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1973AC-2AF1-4FE4-88D9-3D13D33CD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858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rPr>
              <a:t>24 道新来源派生题，10 原生、10 社交、4 跨集合，12 中文、12 英文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rPr>
              <a:t>本机代码 2026-10-15，数据采用可验证的 2026-10-08 快照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24F114-D2F4-4735-B494-4026388E8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2462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rPr>
              <a:t>1 / 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302D59-E62B-4C3B-ABA9-A96B3A5DC965}"/>
              </a:ext>
            </a:extLst>
          </p:cNvPr>
          <p:cNvGraphicFramePr/>
          <p:nvPr/>
        </p:nvGraphicFramePr>
        <p:xfrm>
          <a:off xmlns:a="http://schemas.openxmlformats.org/drawingml/2006/main" x="571500" y="1752600"/>
          <a:ext xmlns:a="http://schemas.openxmlformats.org/drawingml/2006/main" cx="110490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2286000"/>
                <a:gridCol w="2286000"/>
                <a:gridCol w="2286000"/>
              </a:tblGrid>
              <a:tr h="4921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指标（K = 5）</a:t>
                      </a:r>
                    </a:p>
                  </a:txBody>
                  <a:tcPr marL="133350" marR="114300" marT="95250" marB="95250" anchor="ctr">
                    <a:lnL w="5715">
                      <a:solidFill>
                        <a:srgbClr val="C8D4DA"/>
                      </a:solidFill>
                      <a:prstDash val="solid"/>
                    </a:lnL>
                    <a:lnR w="5715">
                      <a:solidFill>
                        <a:srgbClr val="C8D4DA"/>
                      </a:solidFill>
                      <a:prstDash val="solid"/>
                    </a:lnR>
                    <a:lnT w="5715">
                      <a:solidFill>
                        <a:srgbClr val="C8D4DA"/>
                      </a:solidFill>
                      <a:prstDash val="solid"/>
                    </a:lnT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1830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关键词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T w="5715">
                      <a:solidFill>
                        <a:srgbClr val="C8D4DA"/>
                      </a:solidFill>
                      <a:prstDash val="solid"/>
                    </a:lnT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1830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向量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T w="5715">
                      <a:solidFill>
                        <a:srgbClr val="C8D4DA"/>
                      </a:solidFill>
                      <a:prstDash val="solid"/>
                    </a:lnT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1830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混合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T w="5715">
                      <a:solidFill>
                        <a:srgbClr val="C8D4DA"/>
                      </a:solidFill>
                      <a:prstDash val="solid"/>
                    </a:lnT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183047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NDCG：相关结果排序质量</a:t>
                      </a:r>
                    </a:p>
                  </a:txBody>
                  <a:tcPr marL="133350" marR="114300" marT="95250" marB="95250" anchor="ctr">
                    <a:lnL w="5715">
                      <a:solidFill>
                        <a:srgbClr val="C8D4DA"/>
                      </a:solidFill>
                      <a:prstDash val="solid"/>
                    </a:lnL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0.4403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0.8015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0.7203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MRR：平均倒数排名</a:t>
                      </a:r>
                    </a:p>
                  </a:txBody>
                  <a:tcPr marL="133350" marR="114300" marT="95250" marB="95250" anchor="ctr">
                    <a:lnL w="5715">
                      <a:solidFill>
                        <a:srgbClr val="C8D4DA"/>
                      </a:solidFill>
                      <a:prstDash val="solid"/>
                    </a:lnL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0.5278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0.9250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0.8764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精确率 Precision</a:t>
                      </a:r>
                    </a:p>
                  </a:txBody>
                  <a:tcPr marL="133350" marR="114300" marT="95250" marB="95250" anchor="ctr">
                    <a:lnL w="5715">
                      <a:solidFill>
                        <a:srgbClr val="C8D4DA"/>
                      </a:solidFill>
                      <a:prstDash val="solid"/>
                    </a:lnL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0.2500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0.4500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0.3750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已知相关池召回率 Recall</a:t>
                      </a:r>
                    </a:p>
                  </a:txBody>
                  <a:tcPr marL="133350" marR="114300" marT="95250" marB="95250" anchor="ctr">
                    <a:lnL w="5715">
                      <a:solidFill>
                        <a:srgbClr val="C8D4DA"/>
                      </a:solidFill>
                      <a:prstDash val="solid"/>
                    </a:lnL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0.4309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0.7195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0.6392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命中题数 Hit</a:t>
                      </a:r>
                    </a:p>
                  </a:txBody>
                  <a:tcPr marL="133350" marR="114300" marT="95250" marB="95250" anchor="ctr">
                    <a:lnL w="5715">
                      <a:solidFill>
                        <a:srgbClr val="C8D4DA"/>
                      </a:solidFill>
                      <a:prstDash val="solid"/>
                    </a:lnL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 / 24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 / 24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23 / 24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91CF4E-21AD-464E-AE29-1CE67FB8C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33950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6A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08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86A75"/>
                </a:solidFill>
                <a:latin typeface="Microsoft YaHei"/>
                <a:ea typeface="Microsoft YaHei"/>
                <a:cs typeface="Microsoft YaHei"/>
              </a:rPr>
              <a:t>同阶段文章选择比较，使用原始问题直接检索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D4D4C6-4E86-495C-A7EB-9E437DF00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67350"/>
            <a:ext cx="11049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rPr>
              <a:t>三路均按文章选择（record selection）顺序评分，原始问题未改写。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rPr>
              <a:t>混合检索融合关键词、向量与原生标题通道，指标按题取均值。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rPr>
              <a:t>AI 相关性参考用于检索诊断，答案准确率与客户验收需另行评价。</a:t>
            </a:r>
          </a:p>
        </p:txBody>
      </p:sp>
    </p:spTree>
    <p:extLst>
      <p:ext uri="{BB962C8B-B14F-4D97-AF65-F5344CB8AC3E}">
        <p14:creationId xmlns:p14="http://schemas.microsoft.com/office/powerpoint/2010/main" val="5243702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FE5FBA-28E8-4601-AFE3-4D908E20A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1108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830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3150" b="1">
                <a:solidFill>
                  <a:srgbClr val="18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83047"/>
                </a:solidFill>
                <a:latin typeface="Microsoft YaHei"/>
                <a:ea typeface="Microsoft YaHei"/>
                <a:cs typeface="Microsoft YaHei"/>
              </a:rPr>
              <a:t>RAG 检索基线：前 10 条与评价方法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FE4B56-A5C1-4C82-807C-AAF740261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858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rPr>
              <a:t>24 道新来源派生题，10 原生、10 社交、4 跨集合，12 中文、12 英文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rPr>
              <a:t>本机代码 2026-10-15，数据采用可验证的 2026-10-08 快照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86718D-FD6A-4F15-94ED-939009FFE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2462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rPr>
              <a:t>2 / 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A08B8C-B235-4161-9CEA-B6A33DE903B0}"/>
              </a:ext>
            </a:extLst>
          </p:cNvPr>
          <p:cNvGraphicFramePr/>
          <p:nvPr/>
        </p:nvGraphicFramePr>
        <p:xfrm>
          <a:off xmlns:a="http://schemas.openxmlformats.org/drawingml/2006/main" x="571500" y="1752600"/>
          <a:ext xmlns:a="http://schemas.openxmlformats.org/drawingml/2006/main" cx="110490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2286000"/>
                <a:gridCol w="2286000"/>
                <a:gridCol w="2286000"/>
              </a:tblGrid>
              <a:tr h="4921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指标（K = 10）</a:t>
                      </a:r>
                    </a:p>
                  </a:txBody>
                  <a:tcPr marL="133350" marR="114300" marT="95250" marB="95250" anchor="ctr">
                    <a:lnL w="5715">
                      <a:solidFill>
                        <a:srgbClr val="C8D4DA"/>
                      </a:solidFill>
                      <a:prstDash val="solid"/>
                    </a:lnL>
                    <a:lnR w="5715">
                      <a:solidFill>
                        <a:srgbClr val="C8D4DA"/>
                      </a:solidFill>
                      <a:prstDash val="solid"/>
                    </a:lnR>
                    <a:lnT w="5715">
                      <a:solidFill>
                        <a:srgbClr val="C8D4DA"/>
                      </a:solidFill>
                      <a:prstDash val="solid"/>
                    </a:lnT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1830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关键词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T w="5715">
                      <a:solidFill>
                        <a:srgbClr val="C8D4DA"/>
                      </a:solidFill>
                      <a:prstDash val="solid"/>
                    </a:lnT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1830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向量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T w="5715">
                      <a:solidFill>
                        <a:srgbClr val="C8D4DA"/>
                      </a:solidFill>
                      <a:prstDash val="solid"/>
                    </a:lnT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1830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混合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T w="5715">
                      <a:solidFill>
                        <a:srgbClr val="C8D4DA"/>
                      </a:solidFill>
                      <a:prstDash val="solid"/>
                    </a:lnT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183047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NDCG：相关结果排序质量</a:t>
                      </a:r>
                    </a:p>
                  </a:txBody>
                  <a:tcPr marL="133350" marR="114300" marT="95250" marB="95250" anchor="ctr">
                    <a:lnL w="5715">
                      <a:solidFill>
                        <a:srgbClr val="C8D4DA"/>
                      </a:solidFill>
                      <a:prstDash val="solid"/>
                    </a:lnL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0.4356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0.8396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0.7583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MRR：平均倒数排名</a:t>
                      </a:r>
                    </a:p>
                  </a:txBody>
                  <a:tcPr marL="133350" marR="114300" marT="95250" marB="95250" anchor="ctr">
                    <a:lnL w="5715">
                      <a:solidFill>
                        <a:srgbClr val="C8D4DA"/>
                      </a:solidFill>
                      <a:prstDash val="solid"/>
                    </a:lnL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0.5347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0.9250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0.8816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精确率 Precision</a:t>
                      </a:r>
                    </a:p>
                  </a:txBody>
                  <a:tcPr marL="133350" marR="114300" marT="95250" marB="95250" anchor="ctr">
                    <a:lnL w="5715">
                      <a:solidFill>
                        <a:srgbClr val="C8D4DA"/>
                      </a:solidFill>
                      <a:prstDash val="solid"/>
                    </a:lnL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0.1542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0.3375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0.2958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已知相关池召回率 Recall</a:t>
                      </a:r>
                    </a:p>
                  </a:txBody>
                  <a:tcPr marL="133350" marR="114300" marT="95250" marB="95250" anchor="ctr">
                    <a:lnL w="5715">
                      <a:solidFill>
                        <a:srgbClr val="C8D4DA"/>
                      </a:solidFill>
                      <a:prstDash val="solid"/>
                    </a:lnL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0.4737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0.8597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0.7931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命中题数 Hit</a:t>
                      </a:r>
                    </a:p>
                  </a:txBody>
                  <a:tcPr marL="133350" marR="114300" marT="95250" marB="95250" anchor="ctr">
                    <a:lnL w="5715">
                      <a:solidFill>
                        <a:srgbClr val="C8D4DA"/>
                      </a:solidFill>
                      <a:prstDash val="solid"/>
                    </a:lnL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 / 24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 / 24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 / 24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D8A29E-FCE5-4D4D-AE90-7C8719489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33950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6A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08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86A75"/>
                </a:solidFill>
                <a:latin typeface="Microsoft YaHei"/>
                <a:ea typeface="Microsoft YaHei"/>
                <a:cs typeface="Microsoft YaHei"/>
              </a:rPr>
              <a:t>本轮用量计价 $0.170487，621 次调用全部结算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E07FE7-40CB-4372-9814-B6928C159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67350"/>
            <a:ext cx="11049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rPr>
              <a:t>盲判池含 486 组题目—文章对，来自三路前 10 并集、独立锚点和补充材料。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rPr>
              <a:t>AI 判 0–3 级，≥2 记相关，固定 10% 复判，分歧再取第三票中位数。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rPr>
              <a:t>标注覆盖率 100.0%。1 组未裁分歧依预定规则保留初判。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rPr>
              <a:t>Recall 仅对已知池，费用含构题、查询向量、判定与定位补全。</a:t>
            </a:r>
          </a:p>
        </p:txBody>
      </p:sp>
    </p:spTree>
    <p:extLst>
      <p:ext uri="{BB962C8B-B14F-4D97-AF65-F5344CB8AC3E}">
        <p14:creationId xmlns:p14="http://schemas.microsoft.com/office/powerpoint/2010/main" val="5620012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2B2BD0-95AB-4227-AAFD-14F5A3E31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1108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830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3150" b="1">
                <a:solidFill>
                  <a:srgbClr val="18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83047"/>
                </a:solidFill>
                <a:latin typeface="Microsoft YaHei"/>
                <a:ea typeface="Microsoft YaHei"/>
                <a:cs typeface="Microsoft YaHei"/>
              </a:rPr>
              <a:t>下一轮：利用已有日志补齐语义评分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568461-CC03-4457-9019-4AB782C69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858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rPr>
              <a:t>历史日志含 1,283 道有效题，跨 4 个代码版本，本页三项评分尚未执行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3B1A93-9DAB-4929-8E9A-BCFCD4E17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2462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rPr>
              <a:t>3 / 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EE4BBE-29D9-4528-8F21-352708D4B43A}"/>
              </a:ext>
            </a:extLst>
          </p:cNvPr>
          <p:cNvGraphicFramePr/>
          <p:nvPr/>
        </p:nvGraphicFramePr>
        <p:xfrm>
          <a:off xmlns:a="http://schemas.openxmlformats.org/drawingml/2006/main" x="571500" y="1752600"/>
          <a:ext xmlns:a="http://schemas.openxmlformats.org/drawingml/2006/main" cx="11049000" cy="2381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10000"/>
                <a:gridCol w="2000250"/>
                <a:gridCol w="5238750"/>
              </a:tblGrid>
              <a:tr h="5953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</a:t>
                      </a:r>
                    </a:p>
                  </a:txBody>
                  <a:tcPr marL="133350" marR="114300" marT="95250" marB="95250" anchor="ctr">
                    <a:lnL w="5715">
                      <a:solidFill>
                        <a:srgbClr val="C8D4DA"/>
                      </a:solidFill>
                      <a:prstDash val="solid"/>
                    </a:lnL>
                    <a:lnR w="5715">
                      <a:solidFill>
                        <a:srgbClr val="C8D4DA"/>
                      </a:solidFill>
                      <a:prstDash val="solid"/>
                    </a:lnR>
                    <a:lnT w="5715">
                      <a:solidFill>
                        <a:srgbClr val="C8D4DA"/>
                      </a:solidFill>
                      <a:prstDash val="solid"/>
                    </a:lnT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1830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可适配题数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T w="5715">
                      <a:solidFill>
                        <a:srgbClr val="C8D4DA"/>
                      </a:solidFill>
                      <a:prstDash val="solid"/>
                    </a:lnT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1830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怎么评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T w="5715">
                      <a:solidFill>
                        <a:srgbClr val="C8D4DA"/>
                      </a:solidFill>
                      <a:prstDash val="solid"/>
                    </a:lnT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183047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 b="1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上下文精确率</a:t>
                      </a:r>
                    </a:p>
                    <a:p>
                      <a:pPr algn="l">
                        <a:buNone/>
                      </a:pPr>
                      <a:r>
                        <a:rPr sz="1650" b="1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Context Precision</a:t>
                      </a:r>
                    </a:p>
                  </a:txBody>
                  <a:tcPr marL="133350" marR="114300" marT="95250" marB="95250" anchor="ctr">
                    <a:lnL w="5715">
                      <a:solidFill>
                        <a:srgbClr val="C8D4DA"/>
                      </a:solidFill>
                      <a:prstDash val="solid"/>
                    </a:lnL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304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逐段判断对参考答案是否有用</a:t>
                      </a:r>
                    </a:p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按证据排序计算平均精度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忠实性 Faithfulness</a:t>
                      </a:r>
                    </a:p>
                  </a:txBody>
                  <a:tcPr marL="133350" marR="114300" marT="95250" marB="95250" anchor="ctr">
                    <a:lnL w="5715">
                      <a:solidFill>
                        <a:srgbClr val="C8D4DA"/>
                      </a:solidFill>
                      <a:prstDash val="solid"/>
                    </a:lnL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446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将回答拆成事实陈述</a:t>
                      </a:r>
                    </a:p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计算被实际证据支持的比例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 b="1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回答相关性</a:t>
                      </a:r>
                    </a:p>
                    <a:p>
                      <a:pPr algn="l">
                        <a:buNone/>
                      </a:pPr>
                      <a:r>
                        <a:rPr sz="1650" b="1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Answer Relevance</a:t>
                      </a:r>
                    </a:p>
                  </a:txBody>
                  <a:tcPr marL="133350" marR="114300" marT="95250" marB="95250" anchor="ctr">
                    <a:lnL w="5715">
                      <a:solidFill>
                        <a:srgbClr val="C8D4DA"/>
                      </a:solidFill>
                      <a:prstDash val="solid"/>
                    </a:lnL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1,272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由回答反推 3 个问题</a:t>
                      </a:r>
                    </a:p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与原问题比较语义相似度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5917CC-DB7F-4C64-B320-B40FC3E61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2915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6A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08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86A75"/>
                </a:solidFill>
                <a:latin typeface="Microsoft YaHei"/>
                <a:ea typeface="Microsoft YaHei"/>
                <a:cs typeface="Microsoft YaHei"/>
              </a:rPr>
              <a:t>基本估计 $4.68，加 30% 余量为 $6.09，按约 $7 规划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DE91EA-0A44-47E9-BB16-D1341A680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101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830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18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83047"/>
                </a:solidFill>
                <a:latin typeface="Microsoft YaHei"/>
                <a:ea typeface="Microsoft YaHei"/>
                <a:cs typeface="Microsoft YaHei"/>
              </a:rPr>
              <a:t>执行：固定问题、回答及证据，先试评 12–20 题，再固定配置批量评分。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8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83047"/>
                </a:solidFill>
                <a:latin typeface="Microsoft YaHei"/>
                <a:ea typeface="Microsoft YaHei"/>
                <a:cs typeface="Microsoft YaHei"/>
              </a:rPr>
              <a:t>按 4 个历史版本分别报告，缺项和评分失败单列。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CC2DAA-31AC-46C3-A613-852FD5FB5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425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rPr>
              <a:t>预算假设：reasoning=none、单次、不重试，仅含历史日志评分，金额均为美元。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rPr>
              <a:t>本页尚未执行，未计入本轮 24 题检索实测费用。</a:t>
            </a:r>
          </a:p>
        </p:txBody>
      </p:sp>
    </p:spTree>
    <p:extLst>
      <p:ext uri="{BB962C8B-B14F-4D97-AF65-F5344CB8AC3E}">
        <p14:creationId xmlns:p14="http://schemas.microsoft.com/office/powerpoint/2010/main" val="13459839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2026-10-15T21:17:12.4140000Z</dcterms:created>
  <dcterms:modified xsi:type="dcterms:W3CDTF">2026-10-15T21:17:12.4140000Z</dcterms:modified>
</coreProperties>
</file>