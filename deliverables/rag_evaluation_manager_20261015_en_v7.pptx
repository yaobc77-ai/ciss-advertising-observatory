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6896dd0c64599" /><Relationship Type="http://schemas.openxmlformats.org/officeDocument/2006/relationships/extended-properties" Target="/docProps/app.xml" Id="Re8f387020df64f93" /><Relationship Type="http://schemas.openxmlformats.org/officeDocument/2006/relationships/officeDocument" Target="/ppt/presentation.xml" Id="R5d172f22dd99489e" /></Relationships>
</file>

<file path=ppt/presentation.xml><?xml version="1.0" encoding="utf-8"?>
<p:presentation xmlns:p="http://schemas.openxmlformats.org/presentationml/2006/main">
  <p:sldMasterIdLst>
    <p:sldMasterId xmlns:r="http://schemas.openxmlformats.org/officeDocument/2006/relationships" id="2147483648" r:id="R1e847ed3cda1440c"/>
  </p:sldMasterIdLst>
  <p:notesMasterIdLst>
    <p:notesMasterId xmlns:r="http://schemas.openxmlformats.org/officeDocument/2006/relationships" r:id="R39c5a354de6e4af8"/>
  </p:notesMasterIdLst>
  <p:sldIdLst>
    <p:sldId xmlns:r="http://schemas.openxmlformats.org/officeDocument/2006/relationships" id="256" r:id="Rcc73ec14f60247b0"/>
    <p:sldId xmlns:r="http://schemas.openxmlformats.org/officeDocument/2006/relationships" id="257" r:id="Rbb6bc1a990634951"/>
    <p:sldId xmlns:r="http://schemas.openxmlformats.org/officeDocument/2006/relationships" id="258" r:id="R41145bbe5f7946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3acec560fa4de3" /><Relationship Type="http://schemas.openxmlformats.org/officeDocument/2006/relationships/slideMaster" Target="/ppt/slideMasters/slideMaster1.xml" Id="R1e847ed3cda1440c" /><Relationship Type="http://schemas.openxmlformats.org/officeDocument/2006/relationships/notesMaster" Target="/ppt/notesMasters/notesMaster1.xml" Id="R39c5a354de6e4af8" /><Relationship Type="http://schemas.openxmlformats.org/officeDocument/2006/relationships/presProps" Target="/ppt/presProps.xml" Id="R7dfb42adb52c4e1e" /><Relationship Type="http://schemas.openxmlformats.org/officeDocument/2006/relationships/tableStyles" Target="/ppt/tableStyles.xml" Id="R1157a9b31e004792" /><Relationship Type="http://schemas.openxmlformats.org/officeDocument/2006/relationships/slide" Target="/ppt/slides/slide1.xml" Id="Rcc73ec14f60247b0" /><Relationship Type="http://schemas.openxmlformats.org/officeDocument/2006/relationships/slide" Target="/ppt/slides/slide2.xml" Id="Rbb6bc1a990634951" /><Relationship Type="http://schemas.openxmlformats.org/officeDocument/2006/relationships/slide" Target="/ppt/slides/slide3.xml" Id="R41145bbe5f7946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84d56a73e944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d75237515d4bd0" /><Relationship Type="http://schemas.openxmlformats.org/officeDocument/2006/relationships/notesMaster" Target="/ppt/notesMasters/notesMaster1.xml" Id="R74d32d76d74f48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76c9d055174381" /><Relationship Type="http://schemas.openxmlformats.org/officeDocument/2006/relationships/notesMaster" Target="/ppt/notesMasters/notesMaster1.xml" Id="R8927e215424b47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c46b867baa4772" /><Relationship Type="http://schemas.openxmlformats.org/officeDocument/2006/relationships/notesMaster" Target="/ppt/notesMasters/notesMaster1.xml" Id="Rf8c39a9bfa3f47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scope: 24 new source-derived questions, with 10 native-advertising questions, 10 social-media questions and 4 cross-collection questions. Languages: 12 Chinese and 12 English, with distinct questions. This evaluation does not use the protected Customer 24 set. Local retrieval code froze on 2026-10-15 at 20:52:07 UTC (16:52 New York). Data comes from the verified 2026-10-08 database backup, restored into an isolated corpus/index database. This is a historical data snapshot and does not establish current production performance. Later parallel service.py changes are outside the freeze. All methods are evaluated at the record_selection/record stage, with original questions and no rewriting, planner, web search or answer generation. Keyword and vector channels use the same record deduplication and collection interleaving. Hybrid follows production RRF and includes an additional native-title channel, so this comparison does not isolate a causal benefit of fusion. Metrics are macro-averages over all 24 questions. AI-assisted relevance judgments use grades 0-3 with linear gain and binary relevance &gt;=2. These are not human gold labels. NDCG uses log2 rank discounts. MRR is truncated at K. Precision always divides by K, including missing results. Recall uses only the known judged relevance pool and does not estimate full-corpus recall. Hit counts questions with at least one relevant record and does not measure answer accuracy or complete retrieval. Sources: D:/Projects/549 native ads/docs/rag_retrieval_baseline_24_20261015.zh-CN.md; D:/Projects/549 native ads/.runtime/retrieval_baseline_24_20261015/root/summary.json; D:/Projects/549 native ads/.runtime/retrieval_baseline_24_20261015/scoring/results/stratified_metrics.json; D:/Projects/549 native ads/.runtime/retrieval_baseline_24_20261015/scoring/results/independent_metrics.json; D:/Projects/549 native ads/.runtime/retrieval_baseline_24_20261015/scoring/audit/source_cost_audit.json.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scope: 24 new source-derived questions, with 10 native-advertising questions, 10 social-media questions and 4 cross-collection questions. Languages: 12 Chinese and 12 English, with distinct questions. This evaluation does not use the protected Customer 24 set. Local retrieval code froze on 2026-10-15 at 20:52:07 UTC (16:52 New York). Data comes from the verified 2026-10-08 database backup, restored into an isolated corpus/index database. This is a historical data snapshot and does not establish current production performance. Later parallel service.py changes are outside the freeze. All methods are evaluated at the record_selection/record stage, with original questions and no rewriting, planner, web search or answer generation. Keyword and vector channels use the same record deduplication and collection interleaving. Hybrid follows production RRF and includes an additional native-title channel, so this comparison does not isolate a causal benefit of fusion. Metrics are macro-averages over all 24 questions. AI-assisted relevance judgments use grades 0-3 with linear gain and binary relevance &gt;=2. These are not human gold labels. NDCG uses log2 rank discounts. MRR is truncated at K. Precision always divides by K, including missing results. Recall uses only the known judged relevance pool and does not estimate full-corpus recall. Hit counts questions with at least one relevant record and does not measure answer accuracy or complete retrieval. Sources: D:/Projects/549 native ads/docs/rag_retrieval_baseline_24_20261015.zh-CN.md; D:/Projects/549 native ads/.runtime/retrieval_baseline_24_20261015/root/summary.json; D:/Projects/549 native ads/.runtime/retrieval_baseline_24_20261015/scoring/results/stratified_metrics.json; D:/Projects/549 native ads/.runtime/retrieval_baseline_24_20261015/scoring/results/independent_metrics.json; D:/Projects/549 native ads/.runtime/retrieval_baseline_24_20261015/scoring/audit/source_cost_audit.json. Blind judging pool: 486 question-record pairs from the union of top-10 results, independent source anchors and additional records. Approximately 10% receive fixed-hash review, with additional invalid-primary and grade coverage checks. Valid three-vote disagreements use the median. Eight invalid exact-quote locators were completed before any metric calculation, while the other 478 valid judgments remained unchanged. One unresolved disagreement retains its primary label according to the predeclared rule. All returned top-10 results are judged. Total usage-priced cost is USD0.17048746 for 621 unique requests: 24 question-construction requests, 24 query embeddings, 486 primary relevance judgments, 66 reviews, 13 third votes and 8 locator completions. Saved provider usage reconciles with the cost ledger, with zero pending or uncertain charges. Supplier invoices have not been independently reconciled. This cost includes question construction and evidence locator completion. It is separate from the unexecuted historical-log semantic-scoring budget on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evaluation only. These three semantic metrics have not been run. Historical logs contain 1,283 valid cases across four code versions. Existing inputs support adaptation for Context Precision on 304 cases, ordinary-writing Faithfulness on 446 cases and Answer Relevance on 1,272 cases. These counts overlap and must not be added. Context Precision evaluates the usefulness of each ordered context against an existing reference answer and computes average precision. Faithfulness splits the answer into factual claims and measures the fraction supported by the actual evidence. Answer Relevance generates three questions from each answer and compares their semantic similarity to the original question. Pilot 12-20 cases, freeze scoring configuration and evaluate in batches, reporting versions and input gaps separately. Planning assumptions: gpt-5.6-luna, reasoning=none, one attempt per scoring request, no automatic retries. The estimated basic cost is USD4.68, or USD6.09 with a 30% buffer. Plan for about USD7. All amounts are USD and concern scoring historical logs only. They are separate from the completed 24-question retrieval baseline on slides 1-2. Source: D:/Projects/549 native ads/docs/rag_three_metric_preflight_20261015.zh-CN.md. Existing source deck retained at D:\Projects\549 native ads\deliverables\rag_evaluation_manager_20261015_zh-CN_v5.pptx.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f6c6dbedcc47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e41b15b6954e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75852c77f84c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acf99a20be4e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6118bd5ae54f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8e49a7e57344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92D762-5C5D-4ECF-800D-EC795F67E6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474E2D-1F0F-4EB4-A05B-8E87856828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33A2CB-D802-4CDA-B598-5FFF059D2A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3F9B31-9867-447F-8630-240BA5EC23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37DFD9-577D-4BC9-97E7-847841A2DF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2235B6-1B53-4A77-85AF-137BC10518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973CF6-2D54-4281-950D-E971824997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2C069-4AB8-4DFB-8FE1-8C4F214A34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217CF6-3546-4AA5-8A34-1A5643FB5F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59B60A-67AC-4058-9495-78A07D2BF2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0beb6f46494e51" /><Relationship Type="http://schemas.openxmlformats.org/officeDocument/2006/relationships/slideLayout" Target="/ppt/slideLayouts/slideLayout1.xml" Id="R535559ee401b4d70" /><Relationship Type="http://schemas.openxmlformats.org/officeDocument/2006/relationships/slideLayout" Target="/ppt/slideLayouts/slideLayout2.xml" Id="R3129d8f7f7f84e0e" /><Relationship Type="http://schemas.openxmlformats.org/officeDocument/2006/relationships/slideLayout" Target="/ppt/slideLayouts/slideLayout3.xml" Id="R12dd5c21c39e40c6" /><Relationship Type="http://schemas.openxmlformats.org/officeDocument/2006/relationships/slideLayout" Target="/ppt/slideLayouts/slideLayout4.xml" Id="Rddd7197aae694d65" /><Relationship Type="http://schemas.openxmlformats.org/officeDocument/2006/relationships/slideLayout" Target="/ppt/slideLayouts/slideLayout5.xml" Id="R52136e7404ed4928" /><Relationship Type="http://schemas.openxmlformats.org/officeDocument/2006/relationships/slideLayout" Target="/ppt/slideLayouts/slideLayout6.xml" Id="R6a98a9bf996e4a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5559ee401b4d70"/>
    <p:sldLayoutId xmlns:r="http://schemas.openxmlformats.org/officeDocument/2006/relationships" id="2147483650" r:id="R3129d8f7f7f84e0e"/>
    <p:sldLayoutId xmlns:r="http://schemas.openxmlformats.org/officeDocument/2006/relationships" id="2147483651" r:id="R12dd5c21c39e40c6"/>
    <p:sldLayoutId xmlns:r="http://schemas.openxmlformats.org/officeDocument/2006/relationships" id="2147483652" r:id="Rddd7197aae694d65"/>
    <p:sldLayoutId xmlns:r="http://schemas.openxmlformats.org/officeDocument/2006/relationships" id="2147483653" r:id="R52136e7404ed4928"/>
    <p:sldLayoutId xmlns:r="http://schemas.openxmlformats.org/officeDocument/2006/relationships" id="2147483654" r:id="R6a98a9bf996e4a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3cd87e36884751" /><Relationship Type="http://schemas.openxmlformats.org/officeDocument/2006/relationships/notesSlide" Target="/ppt/notesSlides/notesSlide1.xml" Id="Rb069ec3635194c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f86d1cbae94eb7" /><Relationship Type="http://schemas.openxmlformats.org/officeDocument/2006/relationships/notesSlide" Target="/ppt/notesSlides/notesSlide2.xml" Id="R66bfa60425b04b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233e2e1b944d75" /><Relationship Type="http://schemas.openxmlformats.org/officeDocument/2006/relationships/notesSlide" Target="/ppt/notesSlides/notesSlide3.xml" Id="R07d5ba4652034f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868B99-FBEC-458B-8481-985A917F2A6B}"/>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24-Question RAG Retrieval Baseline: Top 5</a:t>
            </a:r>
          </a:p>
        </p:txBody>
      </p:sp>
      <p:graphicFrame>
        <p:nvGraphicFramePr>
          <p:cNvPr id="4" name="">
            <a:extLst xmlns:a="http://schemas.openxmlformats.org/drawingml/2006/main">
              <a:ext uri="{FF2B5EF4-FFF2-40B4-BE49-F238E27FC236}">
                <a16:creationId xmlns:a16="http://schemas.microsoft.com/office/drawing/2014/main" id="{2C94996A-E43D-4BF9-8997-D2F341D9EABB}"/>
              </a:ext>
            </a:extLst>
          </p:cNvPr>
          <p:cNvGraphicFramePr/>
          <p:nvPr/>
        </p:nvGraphicFramePr>
        <p:xfrm>
          <a:off xmlns:a="http://schemas.openxmlformats.org/drawingml/2006/main" x="571500" y="1752600"/>
          <a:ext xmlns:a="http://schemas.openxmlformats.org/drawingml/2006/main" cx="11049000" cy="2952750"/>
        </p:xfrm>
        <a:graphic xmlns:a="http://schemas.openxmlformats.org/drawingml/2006/main">
          <a:graphicData uri="http://schemas.openxmlformats.org/drawingml/2006/table">
            <a:tbl>
              <a:tblPr/>
              <a:tblGrid>
                <a:gridCol w="4191000"/>
                <a:gridCol w="2286000"/>
                <a:gridCol w="2286000"/>
                <a:gridCol w="2286000"/>
              </a:tblGrid>
              <a:tr h="492125">
                <a:tc>
                  <a:txBody>
                    <a:bodyPr/>
                    <a:lstStyle/>
                    <a:p>
                      <a:pPr algn="l">
                        <a:buNone/>
                      </a:pPr>
                      <a:r>
                        <a:rPr sz="1725" b="1">
                          <a:solidFill>
                            <a:srgbClr val="FFFFFF"/>
                          </a:solidFill>
                          <a:latin typeface="Microsoft YaHei"/>
                          <a:ea typeface="Microsoft YaHei"/>
                          <a:cs typeface="Microsoft YaHei"/>
                        </a:rPr>
                        <a:t>Metric (K = 5)</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Keyword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Vector</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Hybrid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492125">
                <a:tc>
                  <a:txBody>
                    <a:bodyPr/>
                    <a:lstStyle/>
                    <a:p>
                      <a:pPr algn="l">
                        <a:buNone/>
                      </a:pPr>
                      <a:r>
                        <a:rPr sz="1800" b="1">
                          <a:solidFill>
                            <a:srgbClr val="183047"/>
                          </a:solidFill>
                          <a:latin typeface="Microsoft YaHei"/>
                          <a:ea typeface="Microsoft YaHei"/>
                          <a:cs typeface="Microsoft YaHei"/>
                        </a:rPr>
                        <a:t>NDCG: Ranking quality</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0.4403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0.8015</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0.7203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MRR: Mean reciprocal rank</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0.5278</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0.9250</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0.8764</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0.2500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0.4500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0.3750</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Recall within known pool</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0.4309</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0.7195</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0.6392</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Questions with a hit</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16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23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B091CF4E-21AD-464E-AE29-1CE67FB8CB64}"/>
              </a:ext>
            </a:extLst>
          </p:cNvPr>
          <p:cNvSpPr>
            <a:spLocks xmlns:a="http://schemas.openxmlformats.org/drawingml/2006/main" noGrp="1"/>
          </p:cNvSpPr>
          <p:nvPr/>
        </p:nvSpPr>
        <p:spPr>
          <a:xfrm xmlns:a="http://schemas.openxmlformats.org/drawingml/2006/main">
            <a:off x="571500" y="49339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Record selection comparison using original questions</a:t>
            </a:r>
          </a:p>
        </p:txBody>
      </p:sp>
    </p:spTree>
    <p:extLst>
      <p:ext uri="{BB962C8B-B14F-4D97-AF65-F5344CB8AC3E}">
        <p14:creationId xmlns:p14="http://schemas.microsoft.com/office/powerpoint/2010/main" val="52437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FE5FBA-28E8-4601-AFE3-4D908E20AC89}"/>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24-Question RAG Retrieval Baseline: Top 10</a:t>
            </a:r>
          </a:p>
        </p:txBody>
      </p:sp>
      <p:graphicFrame>
        <p:nvGraphicFramePr>
          <p:cNvPr id="4" name="">
            <a:extLst xmlns:a="http://schemas.openxmlformats.org/drawingml/2006/main">
              <a:ext uri="{FF2B5EF4-FFF2-40B4-BE49-F238E27FC236}">
                <a16:creationId xmlns:a16="http://schemas.microsoft.com/office/drawing/2014/main" id="{AC9030B9-5F70-4BB7-BE23-7C3C42B2CF6F}"/>
              </a:ext>
            </a:extLst>
          </p:cNvPr>
          <p:cNvGraphicFramePr/>
          <p:nvPr/>
        </p:nvGraphicFramePr>
        <p:xfrm>
          <a:off xmlns:a="http://schemas.openxmlformats.org/drawingml/2006/main" x="571500" y="1752600"/>
          <a:ext xmlns:a="http://schemas.openxmlformats.org/drawingml/2006/main" cx="11049000" cy="2952750"/>
        </p:xfrm>
        <a:graphic xmlns:a="http://schemas.openxmlformats.org/drawingml/2006/main">
          <a:graphicData uri="http://schemas.openxmlformats.org/drawingml/2006/table">
            <a:tbl>
              <a:tblPr/>
              <a:tblGrid>
                <a:gridCol w="4191000"/>
                <a:gridCol w="2286000"/>
                <a:gridCol w="2286000"/>
                <a:gridCol w="2286000"/>
              </a:tblGrid>
              <a:tr h="492125">
                <a:tc>
                  <a:txBody>
                    <a:bodyPr/>
                    <a:lstStyle/>
                    <a:p>
                      <a:pPr algn="l">
                        <a:buNone/>
                      </a:pPr>
                      <a:r>
                        <a:rPr sz="1725" b="1">
                          <a:solidFill>
                            <a:srgbClr val="FFFFFF"/>
                          </a:solidFill>
                          <a:latin typeface="Microsoft YaHei"/>
                          <a:ea typeface="Microsoft YaHei"/>
                          <a:cs typeface="Microsoft YaHei"/>
                        </a:rPr>
                        <a:t>Metric (K = 10)</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Keyword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Vector</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Hybrid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492125">
                <a:tc>
                  <a:txBody>
                    <a:bodyPr/>
                    <a:lstStyle/>
                    <a:p>
                      <a:pPr algn="l">
                        <a:buNone/>
                      </a:pPr>
                      <a:r>
                        <a:rPr sz="1800" b="1">
                          <a:solidFill>
                            <a:srgbClr val="183047"/>
                          </a:solidFill>
                          <a:latin typeface="Microsoft YaHei"/>
                          <a:ea typeface="Microsoft YaHei"/>
                          <a:cs typeface="Microsoft YaHei"/>
                        </a:rPr>
                        <a:t>NDCG: Ranking quality</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0.4356</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0.8396</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0.7583</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MRR: Mean reciprocal rank</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0.5347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0.9250</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0.8816</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0.1542</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0.3375</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0.2958</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492125">
                <a:tc>
                  <a:txBody>
                    <a:bodyPr/>
                    <a:lstStyle/>
                    <a:p>
                      <a:pPr algn="l">
                        <a:buNone/>
                      </a:pPr>
                      <a:r>
                        <a:rPr sz="1800" b="1">
                          <a:solidFill>
                            <a:srgbClr val="183047"/>
                          </a:solidFill>
                          <a:latin typeface="Microsoft YaHei"/>
                          <a:ea typeface="Microsoft YaHei"/>
                          <a:cs typeface="Microsoft YaHei"/>
                        </a:rPr>
                        <a:t>Recall within known pool</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0.4737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0.8597</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0.7931</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492125">
                <a:tc>
                  <a:txBody>
                    <a:bodyPr/>
                    <a:lstStyle/>
                    <a:p>
                      <a:pPr algn="l">
                        <a:buNone/>
                      </a:pPr>
                      <a:r>
                        <a:rPr sz="1800" b="1">
                          <a:solidFill>
                            <a:srgbClr val="183047"/>
                          </a:solidFill>
                          <a:latin typeface="Microsoft YaHei"/>
                          <a:ea typeface="Microsoft YaHei"/>
                          <a:cs typeface="Microsoft YaHei"/>
                        </a:rPr>
                        <a:t>Questions with a hit</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17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24 / 24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8BD8A29E-FCE5-4D4D-AE90-7C871948968D}"/>
              </a:ext>
            </a:extLst>
          </p:cNvPr>
          <p:cNvSpPr>
            <a:spLocks xmlns:a="http://schemas.openxmlformats.org/drawingml/2006/main" noGrp="1"/>
          </p:cNvSpPr>
          <p:nvPr/>
        </p:nvSpPr>
        <p:spPr>
          <a:xfrm xmlns:a="http://schemas.openxmlformats.org/drawingml/2006/main">
            <a:off x="571500" y="49339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Usage cost: $0.170487 across 621 calls</a:t>
            </a:r>
          </a:p>
        </p:txBody>
      </p:sp>
    </p:spTree>
    <p:extLst>
      <p:ext uri="{BB962C8B-B14F-4D97-AF65-F5344CB8AC3E}">
        <p14:creationId xmlns:p14="http://schemas.microsoft.com/office/powerpoint/2010/main" val="5620012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2B2BD0-95AB-4227-AAFD-14F5A3E31287}"/>
              </a:ext>
            </a:extLst>
          </p:cNvPr>
          <p:cNvSpPr>
            <a:spLocks xmlns:a="http://schemas.openxmlformats.org/drawingml/2006/main" noGrp="1"/>
          </p:cNvSpPr>
          <p:nvPr/>
        </p:nvSpPr>
        <p:spPr>
          <a:xfrm xmlns:a="http://schemas.openxmlformats.org/drawingml/2006/main">
            <a:off x="552450" y="4095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047"/>
                </a:solidFill>
                <a:latin typeface="Microsoft YaHei"/>
                <a:ea typeface="Microsoft YaHei"/>
                <a:cs typeface="Microsoft YaHei"/>
              </a:defRPr>
            </a:defPPr>
          </a:lstStyle>
          <a:p xmlns:a="http://schemas.openxmlformats.org/drawingml/2006/main">
            <a:pPr algn="l">
              <a:buNone/>
              <a:defRPr sz="3150" b="1">
                <a:solidFill>
                  <a:srgbClr val="183047"/>
                </a:solidFill>
                <a:latin typeface="Microsoft YaHei"/>
                <a:ea typeface="Microsoft YaHei"/>
                <a:cs typeface="Microsoft YaHei"/>
              </a:defRPr>
            </a:pPr>
            <a:r>
              <a:rPr sz="3150" b="1">
                <a:solidFill>
                  <a:srgbClr val="183047"/>
                </a:solidFill>
                <a:latin typeface="Microsoft YaHei"/>
                <a:ea typeface="Microsoft YaHei"/>
                <a:cs typeface="Microsoft YaHei"/>
              </a:rPr>
              <a:t>Planned Semantic Evaluation from Existing Logs</a:t>
            </a:r>
          </a:p>
        </p:txBody>
      </p:sp>
      <p:graphicFrame>
        <p:nvGraphicFramePr>
          <p:cNvPr id="4" name="">
            <a:extLst xmlns:a="http://schemas.openxmlformats.org/drawingml/2006/main">
              <a:ext uri="{FF2B5EF4-FFF2-40B4-BE49-F238E27FC236}">
                <a16:creationId xmlns:a16="http://schemas.microsoft.com/office/drawing/2014/main" id="{BC204165-515C-46DD-AF42-7E906132FA28}"/>
              </a:ext>
            </a:extLst>
          </p:cNvPr>
          <p:cNvGraphicFramePr/>
          <p:nvPr/>
        </p:nvGraphicFramePr>
        <p:xfrm>
          <a:off xmlns:a="http://schemas.openxmlformats.org/drawingml/2006/main" x="571500" y="1752600"/>
          <a:ext xmlns:a="http://schemas.openxmlformats.org/drawingml/2006/main" cx="11049000" cy="2381250"/>
        </p:xfrm>
        <a:graphic xmlns:a="http://schemas.openxmlformats.org/drawingml/2006/main">
          <a:graphicData uri="http://schemas.openxmlformats.org/drawingml/2006/table">
            <a:tbl>
              <a:tblPr/>
              <a:tblGrid>
                <a:gridCol w="3810000"/>
                <a:gridCol w="2000250"/>
                <a:gridCol w="5238750"/>
              </a:tblGrid>
              <a:tr h="595313">
                <a:tc>
                  <a:txBody>
                    <a:bodyPr/>
                    <a:lstStyle/>
                    <a:p>
                      <a:pPr algn="l">
                        <a:buNone/>
                      </a:pPr>
                      <a:r>
                        <a:rPr sz="1725" b="1">
                          <a:solidFill>
                            <a:srgbClr val="FFFFFF"/>
                          </a:solidFill>
                          <a:latin typeface="Microsoft YaHei"/>
                          <a:ea typeface="Microsoft YaHei"/>
                          <a:cs typeface="Microsoft YaHei"/>
                        </a:rPr>
                        <a:t>Metric</a:t>
                      </a:r>
                    </a:p>
                  </a:txBody>
                  <a:tcPr marL="133350" marR="114300" marT="95250" marB="95250" anchor="ctr">
                    <a:lnL w="5715">
                      <a:solidFill>
                        <a:srgbClr val="C8D4DA"/>
                      </a:solidFill>
                      <a:prstDash val="solid"/>
                    </a:lnL>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ctr">
                        <a:buNone/>
                      </a:pPr>
                      <a:r>
                        <a:rPr sz="1725" b="1">
                          <a:solidFill>
                            <a:srgbClr val="FFFFFF"/>
                          </a:solidFill>
                          <a:latin typeface="Microsoft YaHei"/>
                          <a:ea typeface="Microsoft YaHei"/>
                          <a:cs typeface="Microsoft YaHei"/>
                        </a:rPr>
                        <a:t>Eligible cases</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c>
                  <a:txBody>
                    <a:bodyPr/>
                    <a:lstStyle/>
                    <a:p>
                      <a:pPr algn="l">
                        <a:buNone/>
                      </a:pPr>
                      <a:r>
                        <a:rPr sz="1725" b="1">
                          <a:solidFill>
                            <a:srgbClr val="FFFFFF"/>
                          </a:solidFill>
                          <a:latin typeface="Microsoft YaHei"/>
                          <a:ea typeface="Microsoft YaHei"/>
                          <a:cs typeface="Microsoft YaHei"/>
                        </a:rPr>
                        <a:t>Scoring method</a:t>
                      </a:r>
                    </a:p>
                  </a:txBody>
                  <a:tcPr marL="133350" marR="114300" marT="95250" marB="95250" anchor="ctr">
                    <a:lnR w="5715">
                      <a:solidFill>
                        <a:srgbClr val="C8D4DA"/>
                      </a:solidFill>
                      <a:prstDash val="solid"/>
                    </a:lnR>
                    <a:lnT w="5715">
                      <a:solidFill>
                        <a:srgbClr val="C8D4DA"/>
                      </a:solidFill>
                      <a:prstDash val="solid"/>
                    </a:lnT>
                    <a:lnB w="5715">
                      <a:solidFill>
                        <a:srgbClr val="C8D4DA"/>
                      </a:solidFill>
                      <a:prstDash val="solid"/>
                    </a:lnB>
                    <a:solidFill>
                      <a:srgbClr val="183047"/>
                    </a:solidFill>
                  </a:tcPr>
                </a:tc>
              </a:tr>
              <a:tr h="595313">
                <a:tc>
                  <a:txBody>
                    <a:bodyPr/>
                    <a:lstStyle/>
                    <a:p>
                      <a:pPr algn="l">
                        <a:buNone/>
                      </a:pPr>
                      <a:r>
                        <a:rPr sz="1800" b="1">
                          <a:solidFill>
                            <a:srgbClr val="183047"/>
                          </a:solidFill>
                          <a:latin typeface="Microsoft YaHei"/>
                          <a:ea typeface="Microsoft YaHei"/>
                          <a:cs typeface="Microsoft YaHei"/>
                        </a:rPr>
                        <a:t>Context Precision</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304</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l">
                        <a:buNone/>
                      </a:pPr>
                      <a:r>
                        <a:rPr sz="1650" b="0">
                          <a:solidFill>
                            <a:srgbClr val="183047"/>
                          </a:solidFill>
                          <a:latin typeface="Microsoft YaHei"/>
                          <a:ea typeface="Microsoft YaHei"/>
                          <a:cs typeface="Microsoft YaHei"/>
                        </a:rPr>
                        <a:t>Judge each passage against the reference answer.</a:t>
                      </a:r>
                    </a:p>
                    <a:p>
                      <a:pPr algn="l">
                        <a:buNone/>
                      </a:pPr>
                      <a:r>
                        <a:rPr sz="1650" b="0">
                          <a:solidFill>
                            <a:srgbClr val="183047"/>
                          </a:solidFill>
                          <a:latin typeface="Microsoft YaHei"/>
                          <a:ea typeface="Microsoft YaHei"/>
                          <a:cs typeface="Microsoft YaHei"/>
                        </a:rPr>
                        <a:t>Compute average precision by evidence rank.</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r h="595313">
                <a:tc>
                  <a:txBody>
                    <a:bodyPr/>
                    <a:lstStyle/>
                    <a:p>
                      <a:pPr algn="l">
                        <a:buNone/>
                      </a:pPr>
                      <a:r>
                        <a:rPr sz="1800" b="1">
                          <a:solidFill>
                            <a:srgbClr val="183047"/>
                          </a:solidFill>
                          <a:latin typeface="Microsoft YaHei"/>
                          <a:ea typeface="Microsoft YaHei"/>
                          <a:cs typeface="Microsoft YaHei"/>
                        </a:rPr>
                        <a:t>Faithfulness</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FFFFFF"/>
                    </a:solidFill>
                  </a:tcPr>
                </a:tc>
                <a:tc>
                  <a:txBody>
                    <a:bodyPr/>
                    <a:lstStyle/>
                    <a:p>
                      <a:pPr algn="ctr">
                        <a:buNone/>
                      </a:pPr>
                      <a:r>
                        <a:rPr sz="1800" b="0">
                          <a:solidFill>
                            <a:srgbClr val="183047"/>
                          </a:solidFill>
                          <a:latin typeface="Microsoft YaHei"/>
                          <a:ea typeface="Microsoft YaHei"/>
                          <a:cs typeface="Microsoft YaHei"/>
                        </a:rPr>
                        <a:t>446</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c>
                  <a:txBody>
                    <a:bodyPr/>
                    <a:lstStyle/>
                    <a:p>
                      <a:pPr algn="l">
                        <a:buNone/>
                      </a:pPr>
                      <a:r>
                        <a:rPr sz="1650" b="0">
                          <a:solidFill>
                            <a:srgbClr val="183047"/>
                          </a:solidFill>
                          <a:latin typeface="Microsoft YaHei"/>
                          <a:ea typeface="Microsoft YaHei"/>
                          <a:cs typeface="Microsoft YaHei"/>
                        </a:rPr>
                        <a:t>Split the answer into factual claims.</a:t>
                      </a:r>
                    </a:p>
                    <a:p>
                      <a:pPr algn="l">
                        <a:buNone/>
                      </a:pPr>
                      <a:r>
                        <a:rPr sz="1650" b="0">
                          <a:solidFill>
                            <a:srgbClr val="183047"/>
                          </a:solidFill>
                          <a:latin typeface="Microsoft YaHei"/>
                          <a:ea typeface="Microsoft YaHei"/>
                          <a:cs typeface="Microsoft YaHei"/>
                        </a:rPr>
                        <a:t>Share of claims supported by the evidence.</a:t>
                      </a:r>
                    </a:p>
                  </a:txBody>
                  <a:tcPr marL="133350" marR="114300" marT="95250" marB="95250" anchor="ctr">
                    <a:lnR w="5715">
                      <a:solidFill>
                        <a:srgbClr val="C8D4DA"/>
                      </a:solidFill>
                      <a:prstDash val="solid"/>
                    </a:lnR>
                    <a:lnB w="5715">
                      <a:solidFill>
                        <a:srgbClr val="C8D4DA"/>
                      </a:solidFill>
                      <a:prstDash val="solid"/>
                    </a:lnB>
                    <a:solidFill>
                      <a:srgbClr val="FFFFFF"/>
                    </a:solidFill>
                  </a:tcPr>
                </a:tc>
              </a:tr>
              <a:tr h="595313">
                <a:tc>
                  <a:txBody>
                    <a:bodyPr/>
                    <a:lstStyle/>
                    <a:p>
                      <a:pPr algn="l">
                        <a:buNone/>
                      </a:pPr>
                      <a:r>
                        <a:rPr sz="1800" b="1">
                          <a:solidFill>
                            <a:srgbClr val="183047"/>
                          </a:solidFill>
                          <a:latin typeface="Microsoft YaHei"/>
                          <a:ea typeface="Microsoft YaHei"/>
                          <a:cs typeface="Microsoft YaHei"/>
                        </a:rPr>
                        <a:t>Answer Relevance</a:t>
                      </a:r>
                    </a:p>
                  </a:txBody>
                  <a:tcPr marL="133350" marR="114300" marT="95250" marB="95250" anchor="ctr">
                    <a:lnL w="5715">
                      <a:solidFill>
                        <a:srgbClr val="C8D4DA"/>
                      </a:solidFill>
                      <a:prstDash val="solid"/>
                    </a:lnL>
                    <a:lnR w="5715">
                      <a:solidFill>
                        <a:srgbClr val="C8D4DA"/>
                      </a:solidFill>
                      <a:prstDash val="solid"/>
                    </a:lnR>
                    <a:lnB w="5715">
                      <a:solidFill>
                        <a:srgbClr val="C8D4DA"/>
                      </a:solidFill>
                      <a:prstDash val="solid"/>
                    </a:lnB>
                    <a:solidFill>
                      <a:srgbClr val="EAF2F4"/>
                    </a:solidFill>
                  </a:tcPr>
                </a:tc>
                <a:tc>
                  <a:txBody>
                    <a:bodyPr/>
                    <a:lstStyle/>
                    <a:p>
                      <a:pPr algn="ctr">
                        <a:buNone/>
                      </a:pPr>
                      <a:r>
                        <a:rPr sz="1800" b="0">
                          <a:solidFill>
                            <a:srgbClr val="183047"/>
                          </a:solidFill>
                          <a:latin typeface="Microsoft YaHei"/>
                          <a:ea typeface="Microsoft YaHei"/>
                          <a:cs typeface="Microsoft YaHei"/>
                        </a:rPr>
                        <a:t>1,272</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c>
                  <a:txBody>
                    <a:bodyPr/>
                    <a:lstStyle/>
                    <a:p>
                      <a:pPr algn="l">
                        <a:buNone/>
                      </a:pPr>
                      <a:r>
                        <a:rPr sz="1650" b="0">
                          <a:solidFill>
                            <a:srgbClr val="183047"/>
                          </a:solidFill>
                          <a:latin typeface="Microsoft YaHei"/>
                          <a:ea typeface="Microsoft YaHei"/>
                          <a:cs typeface="Microsoft YaHei"/>
                        </a:rPr>
                        <a:t>Generate 3 questions from the answer.</a:t>
                      </a:r>
                    </a:p>
                    <a:p>
                      <a:pPr algn="l">
                        <a:buNone/>
                      </a:pPr>
                      <a:r>
                        <a:rPr sz="1650" b="0">
                          <a:solidFill>
                            <a:srgbClr val="183047"/>
                          </a:solidFill>
                          <a:latin typeface="Microsoft YaHei"/>
                          <a:ea typeface="Microsoft YaHei"/>
                          <a:cs typeface="Microsoft YaHei"/>
                        </a:rPr>
                        <a:t>Compare meaning with the original question.</a:t>
                      </a:r>
                    </a:p>
                  </a:txBody>
                  <a:tcPr marL="133350" marR="114300" marT="95250" marB="95250" anchor="ctr">
                    <a:lnR w="5715">
                      <a:solidFill>
                        <a:srgbClr val="C8D4DA"/>
                      </a:solidFill>
                      <a:prstDash val="solid"/>
                    </a:lnR>
                    <a:lnB w="5715">
                      <a:solidFill>
                        <a:srgbClr val="C8D4DA"/>
                      </a:solidFill>
                      <a:prstDash val="solid"/>
                    </a:lnB>
                    <a:solidFill>
                      <a:srgbClr val="EAF2F4"/>
                    </a:solidFill>
                  </a:tcPr>
                </a:tc>
              </a:tr>
            </a:tbl>
          </a:graphicData>
        </a:graphic>
      </p:graphicFrame>
      <p:sp>
        <p:nvSpPr>
          <p:cNvPr id="5" name="">
            <a:extLst xmlns:a="http://schemas.openxmlformats.org/drawingml/2006/main">
              <a:ext uri="{FF2B5EF4-FFF2-40B4-BE49-F238E27FC236}">
                <a16:creationId xmlns:a16="http://schemas.microsoft.com/office/drawing/2014/main" id="{255917CC-DB7F-4C64-B320-B40FC3E610B8}"/>
              </a:ext>
            </a:extLst>
          </p:cNvPr>
          <p:cNvSpPr>
            <a:spLocks xmlns:a="http://schemas.openxmlformats.org/drawingml/2006/main" noGrp="1"/>
          </p:cNvSpPr>
          <p:nvPr/>
        </p:nvSpPr>
        <p:spPr>
          <a:xfrm xmlns:a="http://schemas.openxmlformats.org/drawingml/2006/main">
            <a:off x="571500" y="46291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6A75"/>
                </a:solidFill>
                <a:latin typeface="Microsoft YaHei"/>
                <a:ea typeface="Microsoft YaHei"/>
                <a:cs typeface="Microsoft YaHei"/>
              </a:defRPr>
            </a:defPPr>
          </a:lstStyle>
          <a:p xmlns:a="http://schemas.openxmlformats.org/drawingml/2006/main">
            <a:pPr algn="l">
              <a:buNone/>
              <a:defRPr sz="2025" b="1">
                <a:solidFill>
                  <a:srgbClr val="086A75"/>
                </a:solidFill>
                <a:latin typeface="Microsoft YaHei"/>
                <a:ea typeface="Microsoft YaHei"/>
                <a:cs typeface="Microsoft YaHei"/>
              </a:defRPr>
            </a:pPr>
            <a:r>
              <a:rPr sz="2025" b="1">
                <a:solidFill>
                  <a:srgbClr val="086A75"/>
                </a:solidFill>
                <a:latin typeface="Microsoft YaHei"/>
                <a:ea typeface="Microsoft YaHei"/>
                <a:cs typeface="Microsoft YaHei"/>
              </a:rPr>
              <a:t>Estimated cost $4.68, $6.09 with 30% buffer. Plan for about $7</a:t>
            </a:r>
          </a:p>
        </p:txBody>
      </p:sp>
      <p:sp>
        <p:nvSpPr>
          <p:cNvPr id="6" name="">
            <a:extLst xmlns:a="http://schemas.openxmlformats.org/drawingml/2006/main">
              <a:ext uri="{FF2B5EF4-FFF2-40B4-BE49-F238E27FC236}">
                <a16:creationId xmlns:a16="http://schemas.microsoft.com/office/drawing/2014/main" id="{E8DE91EA-0A44-47E9-BB16-D1341A6809B4}"/>
              </a:ext>
            </a:extLst>
          </p:cNvPr>
          <p:cNvSpPr>
            <a:spLocks xmlns:a="http://schemas.openxmlformats.org/drawingml/2006/main" noGrp="1"/>
          </p:cNvSpPr>
          <p:nvPr/>
        </p:nvSpPr>
        <p:spPr>
          <a:xfrm xmlns:a="http://schemas.openxmlformats.org/drawingml/2006/main">
            <a:off x="571500" y="52101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83047"/>
                </a:solidFill>
                <a:latin typeface="Microsoft YaHei"/>
                <a:ea typeface="Microsoft YaHei"/>
                <a:cs typeface="Microsoft YaHei"/>
              </a:defRPr>
            </a:defPPr>
          </a:lstStyle>
          <a:p xmlns:a="http://schemas.openxmlformats.org/drawingml/2006/main">
            <a:pPr algn="l">
              <a:buNone/>
              <a:defRPr sz="1650" b="0">
                <a:solidFill>
                  <a:srgbClr val="183047"/>
                </a:solidFill>
                <a:latin typeface="Microsoft YaHei"/>
                <a:ea typeface="Microsoft YaHei"/>
                <a:cs typeface="Microsoft YaHei"/>
              </a:defRPr>
            </a:pPr>
            <a:r>
              <a:rPr sz="1650" b="0">
                <a:solidFill>
                  <a:srgbClr val="183047"/>
                </a:solidFill>
                <a:latin typeface="Microsoft YaHei"/>
                <a:ea typeface="Microsoft YaHei"/>
                <a:cs typeface="Microsoft YaHei"/>
              </a:rPr>
              <a:t>Pilot 12–20 cases with fixed questions, answers and evidence, then score in batches.</a:t>
            </a:r>
          </a:p>
          <a:p xmlns:a="http://schemas.openxmlformats.org/drawingml/2006/main">
            <a:pPr algn="l">
              <a:buNone/>
              <a:defRPr sz="1650" b="0">
                <a:solidFill>
                  <a:srgbClr val="183047"/>
                </a:solidFill>
                <a:latin typeface="Microsoft YaHei"/>
                <a:ea typeface="Microsoft YaHei"/>
                <a:cs typeface="Microsoft YaHei"/>
              </a:defRPr>
            </a:pPr>
            <a:r>
              <a:rPr sz="1650" b="0">
                <a:solidFill>
                  <a:srgbClr val="183047"/>
                </a:solidFill>
                <a:latin typeface="Microsoft YaHei"/>
                <a:ea typeface="Microsoft YaHei"/>
                <a:cs typeface="Microsoft YaHei"/>
              </a:rPr>
              <a:t>Report each of the four code versions separately, including missing data and failures.</a:t>
            </a:r>
          </a:p>
        </p:txBody>
      </p:sp>
    </p:spTree>
    <p:extLst>
      <p:ext uri="{BB962C8B-B14F-4D97-AF65-F5344CB8AC3E}">
        <p14:creationId xmlns:p14="http://schemas.microsoft.com/office/powerpoint/2010/main" val="1345983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2026-10-15T21:29:01.8680000Z</dcterms:created>
  <dcterms:modified xsi:type="dcterms:W3CDTF">2026-10-15T21:29:01.8680000Z</dcterms:modified>
</coreProperties>
</file>