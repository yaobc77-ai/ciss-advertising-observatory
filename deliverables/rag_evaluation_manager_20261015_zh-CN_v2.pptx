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8309b552894ccf" /><Relationship Type="http://schemas.openxmlformats.org/officeDocument/2006/relationships/extended-properties" Target="/docProps/app.xml" Id="R7f883ed4bd924e19" /><Relationship Type="http://schemas.openxmlformats.org/officeDocument/2006/relationships/officeDocument" Target="/ppt/presentation.xml" Id="Rfef8e83d5f15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0bd5590fe41e2"/>
  </p:sldMasterIdLst>
  <p:notesMasterIdLst>
    <p:notesMasterId xmlns:r="http://schemas.openxmlformats.org/officeDocument/2006/relationships" r:id="R3ce992b8e80248aa"/>
  </p:notesMasterIdLst>
  <p:sldIdLst>
    <p:sldId xmlns:r="http://schemas.openxmlformats.org/officeDocument/2006/relationships" id="256" r:id="R343294e94e9a40e4"/>
    <p:sldId xmlns:r="http://schemas.openxmlformats.org/officeDocument/2006/relationships" id="257" r:id="R9a32ef410e704cc7"/>
    <p:sldId xmlns:r="http://schemas.openxmlformats.org/officeDocument/2006/relationships" id="258" r:id="R209ac5b821da46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5bac007a640d3" /><Relationship Type="http://schemas.openxmlformats.org/officeDocument/2006/relationships/slideMaster" Target="/ppt/slideMasters/slideMaster1.xml" Id="R6a10bd5590fe41e2" /><Relationship Type="http://schemas.openxmlformats.org/officeDocument/2006/relationships/notesMaster" Target="/ppt/notesMasters/notesMaster1.xml" Id="R3ce992b8e80248aa" /><Relationship Type="http://schemas.openxmlformats.org/officeDocument/2006/relationships/presProps" Target="/ppt/presProps.xml" Id="R627723482b5340ff" /><Relationship Type="http://schemas.openxmlformats.org/officeDocument/2006/relationships/tableStyles" Target="/ppt/tableStyles.xml" Id="R2ccbb85957c942c6" /><Relationship Type="http://schemas.openxmlformats.org/officeDocument/2006/relationships/slide" Target="/ppt/slides/slide1.xml" Id="R343294e94e9a40e4" /><Relationship Type="http://schemas.openxmlformats.org/officeDocument/2006/relationships/slide" Target="/ppt/slides/slide2.xml" Id="R9a32ef410e704cc7" /><Relationship Type="http://schemas.openxmlformats.org/officeDocument/2006/relationships/slide" Target="/ppt/slides/slide3.xml" Id="R209ac5b821da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b24dce3e364f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4d58fa6e9a4b57" /><Relationship Type="http://schemas.openxmlformats.org/officeDocument/2006/relationships/notesMaster" Target="/ppt/notesMasters/notesMaster1.xml" Id="R56d4ec922bab40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7511b3d834b2d" /><Relationship Type="http://schemas.openxmlformats.org/officeDocument/2006/relationships/notesMaster" Target="/ppt/notesMasters/notesMaster1.xml" Id="R6eeae5e6be7045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d19f47e8e74083" /><Relationship Type="http://schemas.openxmlformats.org/officeDocument/2006/relationships/notesMaster" Target="/ppt/notesMasters/notesMaster1.xml" Id="R33cd19af99c04b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ads/.runtime/rag_eval_test_20261008/root/final_summary.json；D:/Projects/549 native ads/.runtime/rag_eval_test_20261008/root/scoring_inputs/judgments.csv、retrieval_runs.csv、rankings.csv；D:/Projects/549 native ads/docs/retrieval_evaluation.zh-CN.md。10月15日已从保存的排名和相关性判断独立复算。Hit@5为前五项至少出现一个相关结果的题数，二元相关阈值&gt;=2；不是找全率。NDCG使用0–3级线性增益；MRR在第5项截断。Recall分母为已知、已判的相关池，不是全库相关材料。不同通道的评估阶段不同，不能据此认定某检索器在同等条件下更优。该历史本地冻结版本不代表当前线上表现。同期实际内容问答完成2/12，且include_inferred设置发生变化，不能将检索分数当作回答准确率。本页没有人工真值或CLAIMS标签分类质量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ads/.runtime/rag_eval_test_20261008/root_b1k/README.zh-CN.md（共998题，2题无效，996题有效）；D:/Projects/549 native ads/.runtime/rag_eval_test_20261008/ref_v2/scores_v2.json、ref_new3_v2.json。采用最后一次修订，不采用已被替代的342个正例参考。Q轮真阳性227、假阳性4；R轮真阳性283、假阳性5；共同参考正例296。Q微平均P=227/231、R=227/296；R微平均P=283/288、R=283/296。明确参考名单完全一致Q30/50、R37/50。参考池296个正例、12个负例、97个有争议、6个中立，共411个题目—文章配对、172个不同记录ID。这些固定参考回归指标不是RAGAS分数，不是未见题验证或当前线上分数。参考候选来自历史标注及两轮输出，仍有选择偏差。大规模测试原先的通过率使用随输出修改的参考，本页不采用。R轮之后的新实现仍需固定版本重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来源：D:/Projects/549 native ads/docs/rag_three_metric_preflight_20261015.zh-CN.md；D:/Projects/549 native ads/.runtime/rag_three_metrics_preflight_20261015/root/cost_estimate.json。目前只完成日志可适配性预检，尚未完成评分器验证或执行评分。Context Precision可适配304题、2075个有序写作证据对象，其中7题最终生成失败但上下文仍可独立评估。普通写作Faithfulness为446题；另外495题多阶段名单筛查只能单列最终证据支持诊断。Answer Relevance1272题包含65题证据不足回答，应单列；排除11个服务错误。1283道有效题来自原B1K996题及N97、M95、R95，跨4个历史代码版本；不含旧278题/Customer24、P59/R2及P60–66。各指标分母不同，不能相加。基本估计精确值4.684937美元；可选诊断增加5.470479美元，共10.155416美元。沿用英文版已核验价格假设：gpt-5.6-luna标准输入0.20美元/百万token、输出1.20美元/百万token，text-embedding-3-small0.02美元/百万token；reasoning=none、单次、无重试。输出用量及预留均为估计。尚未授权或执行付费评分。标准RAGAS语义Context Recall未评分且不在本预算内。当前代码重新作答需要另行冻结数据、代码、范围、参考及费用上限。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71fa6d4e245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b74701dd744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bcdd85ca246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64731f15cf4d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5fff1192548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ff8e3b066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14887C-8247-4DD5-BB51-8FCFDA8D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954859-4F38-4549-B7B3-28B7764195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AD157D-F48A-45E6-9A8F-84BB3A6F2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0FB17-76B1-4C9A-BAD2-79A6B2A014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16F442-EC2D-4DDF-BE83-FB7EEC4E77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2AF3DF-0FB2-4F58-9435-A5A653DFA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3077C1-CDF8-4EA8-8A5A-8A32360D9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B76E50-1A14-43F1-98BB-810220F5DD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0E438D-40FD-4188-AF38-B53E88A71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BD0E1D-20CD-4C00-850E-C22F8D9B3D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9bdd24ccc34592" /><Relationship Type="http://schemas.openxmlformats.org/officeDocument/2006/relationships/slideLayout" Target="/ppt/slideLayouts/slideLayout1.xml" Id="R728fd7567c734b29" /><Relationship Type="http://schemas.openxmlformats.org/officeDocument/2006/relationships/slideLayout" Target="/ppt/slideLayouts/slideLayout2.xml" Id="R06e4c10767a941f1" /><Relationship Type="http://schemas.openxmlformats.org/officeDocument/2006/relationships/slideLayout" Target="/ppt/slideLayouts/slideLayout3.xml" Id="R10e66be882494f47" /><Relationship Type="http://schemas.openxmlformats.org/officeDocument/2006/relationships/slideLayout" Target="/ppt/slideLayouts/slideLayout4.xml" Id="R7886458327aa48c4" /><Relationship Type="http://schemas.openxmlformats.org/officeDocument/2006/relationships/slideLayout" Target="/ppt/slideLayouts/slideLayout5.xml" Id="R3ce970cd70f84a48" /><Relationship Type="http://schemas.openxmlformats.org/officeDocument/2006/relationships/slideLayout" Target="/ppt/slideLayouts/slideLayout6.xml" Id="R24950462b8884c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fd7567c734b29"/>
    <p:sldLayoutId xmlns:r="http://schemas.openxmlformats.org/officeDocument/2006/relationships" id="2147483650" r:id="R06e4c10767a941f1"/>
    <p:sldLayoutId xmlns:r="http://schemas.openxmlformats.org/officeDocument/2006/relationships" id="2147483651" r:id="R10e66be882494f47"/>
    <p:sldLayoutId xmlns:r="http://schemas.openxmlformats.org/officeDocument/2006/relationships" id="2147483652" r:id="R7886458327aa48c4"/>
    <p:sldLayoutId xmlns:r="http://schemas.openxmlformats.org/officeDocument/2006/relationships" id="2147483653" r:id="R3ce970cd70f84a48"/>
    <p:sldLayoutId xmlns:r="http://schemas.openxmlformats.org/officeDocument/2006/relationships" id="2147483654" r:id="R24950462b8884c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d00c87e2c43ce" /><Relationship Type="http://schemas.openxmlformats.org/officeDocument/2006/relationships/notesSlide" Target="/ppt/notesSlides/notesSlide1.xml" Id="R8ddefe96d7bb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0fa7273fe4c0f" /><Relationship Type="http://schemas.openxmlformats.org/officeDocument/2006/relationships/notesSlide" Target="/ppt/notesSlides/notesSlide2.xml" Id="R46432d5a0a8645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4cb0677394dcd" /><Relationship Type="http://schemas.openxmlformats.org/officeDocument/2006/relationships/notesSlide" Target="/ppt/notesSlides/notesSlide3.xml" Id="Rec00f293ef814b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AFB0A-1CFF-43F3-B589-FEEBF1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RAG 检索基线：经典指标结果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3A582-B0A1-4B3A-A2EB-B8AE29E9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12 道内容题，140 个 AI 相关性判断；测试版本冻结于 2026 年 10 月 8 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91286-53AC-413F-98A0-56FDB58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A3870-F8BD-4F95-ACAD-1C718FA8802C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指标（K = 5）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NDCG：相关结果排序质量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0.6823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0.7801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MRR：平均倒数排名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0.9333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0.7917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精确率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0.2833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0.3167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已判相关池召回率 Recall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0.8944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0.8278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命中题数 Hit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/ 12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AF638-5CCB-4FE7-BE88-76D7EB34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在这组小规模诊断中，向量通道的各项得分最高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528AE-2C3A-4C42-A0A0-A6962CB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86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范围：5 道原生广告题、5 道社交题、2 道跨集合题；前五项均已判断相关性。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关键词／向量评候选结果，混合评最终选中文章，评估阶段不同。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已知池召回率属于信息检索指标；语义 Context Recall 尚未评分。</a:t>
            </a:r>
          </a:p>
        </p:txBody>
      </p:sp>
    </p:spTree>
    <p:extLst>
      <p:ext uri="{BB962C8B-B14F-4D97-AF65-F5344CB8AC3E}">
        <p14:creationId xmlns:p14="http://schemas.microsoft.com/office/powerpoint/2010/main" val="1446752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85593-2EBD-463C-A7E0-79502D33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固定参考下的名单问答回归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F8A1C-BC59-4274-A01C-0D4CCFB5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大规模测试尝试 998 题，其中 996 题有效；下表比较 50 道名单题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0A3AD-7FE7-4A32-908E-825A0932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F6D35-E015-403A-96F0-99407EE5109A}"/>
              </a:ext>
            </a:extLst>
          </p:cNvPr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857500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共同参考下的比较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较早 Q 轮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较晚 R 轮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名单精确率（微平均）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名单召回率（微平均）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76.7%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95.6%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与明确参考名单完全一致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/ 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 / 50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7D2BF-5925-497E-A5F1-FD04D79C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漏项减少；仍有 13 / 50 道回答与明确参考名单不完全一致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ED063-ABE6-4B7A-AA4C-570B0AFD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参考池涉及 172 篇去重文章、411 个“题目—文章”配对。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97 个有争议配对不计入对错；参考包含 AI 判断。</a:t>
            </a:r>
          </a:p>
          <a:p xmlns:a="http://schemas.openxmlformats.org/drawingml/2006/main">
            <a:pPr algn="l">
              <a:def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这是已知题上的任务级名单指标；CLAIMS 标签分类准确率尚未验证。</a:t>
            </a:r>
          </a:p>
        </p:txBody>
      </p:sp>
    </p:spTree>
    <p:extLst>
      <p:ext uri="{BB962C8B-B14F-4D97-AF65-F5344CB8AC3E}">
        <p14:creationId xmlns:p14="http://schemas.microsoft.com/office/powerpoint/2010/main" val="847168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A39B6-56EE-4ECF-A083-0BB5B325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下一轮：利用已有日志补齐语义评分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E6390-8B56-419E-8EB5-357CEAE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预检已完成，尚无三项语义分数；选定日志含 1,283 道有效题，跨 4 个历史代码版本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0C52D-653E-4E47-A001-32471FE1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5475B-3571-4673-B6A5-B2798E5E8CFC}"/>
              </a:ext>
            </a:extLst>
          </p:cNvPr>
          <p:cNvGraphicFramePr/>
          <p:nvPr/>
        </p:nvGraphicFramePr>
        <p:xfrm>
          <a:off xmlns:a="http://schemas.openxmlformats.org/drawingml/2006/main" x="571500" y="1752600"/>
          <a:ext xmlns:a="http://schemas.openxmlformats.org/drawingml/2006/main" cx="110490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000250"/>
                <a:gridCol w="5238750"/>
              </a:tblGrid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可适配题数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评估目标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T w="5715">
                      <a:solidFill>
                        <a:srgbClr val="C8D4DA"/>
                      </a:solidFill>
                      <a:prstDash val="solid"/>
                    </a:lnT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183047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上下文精确率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Precision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写作模型收到的有序上下文是否有用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忠实性 Faithfulness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446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回答陈述是否受到实际上下文支持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回答相关性</a:t>
                      </a:r>
                    </a:p>
                    <a:p>
                      <a:pPr algn="l"/>
                      <a:r>
                        <a:rPr sz="1650" b="1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Answer Relevance</a:t>
                      </a:r>
                    </a:p>
                  </a:txBody>
                  <a:tcPr marL="133350" marR="114300" marT="95250" marB="95250" anchor="ctr">
                    <a:lnL w="5715">
                      <a:solidFill>
                        <a:srgbClr val="C8D4DA"/>
                      </a:solidFill>
                      <a:prstDash val="solid"/>
                    </a:lnL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1,272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830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回答是否直接回应原问题</a:t>
                      </a:r>
                    </a:p>
                  </a:txBody>
                  <a:tcPr marL="133350" marR="114300" marT="95250" marB="95250" anchor="ctr">
                    <a:lnR w="5715">
                      <a:solidFill>
                        <a:srgbClr val="C8D4DA"/>
                      </a:solidFill>
                      <a:prstDash val="solid"/>
                    </a:lnR>
                    <a:lnB w="5715">
                      <a:solidFill>
                        <a:srgbClr val="C8D4DA"/>
                      </a:solidFill>
                      <a:prstDash val="solid"/>
                    </a:lnB>
                    <a:solidFill>
                      <a:srgbClr val="EAF2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3DE29-26A1-4577-ACEB-090AE229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6A75"/>
                </a:solidFill>
                <a:latin typeface="Microsoft YaHei"/>
                <a:ea typeface="Microsoft YaHei"/>
                <a:cs typeface="Microsoft YaHei"/>
              </a:rPr>
              <a:t>基本估计 $4.68；加 30% 余量为 $6.09，按约 $7 规划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D3ED1-24FC-485C-9FB2-B19BC4B5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下一步：冻结输入与参考，验证评分适配，再固定评委参数及费用上限。</a:t>
            </a:r>
          </a:p>
          <a:p xmlns:a="http://schemas.openxmlformats.org/drawingml/2006/main">
            <a:pPr algn="l">
              <a:def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3047"/>
                </a:solidFill>
                <a:latin typeface="Microsoft YaHei"/>
                <a:ea typeface="Microsoft YaHei"/>
                <a:cs typeface="Microsoft YaHei"/>
              </a:rPr>
              <a:t>当前代码重新生成答案并复测，需要另定范围与预算。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CE765-3104-446D-8AA3-6CB23A13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可选：另加 495 题名单证据支持诊断，单独报告；合计估计 $10.16，含余量 $13.20。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假设：reasoning=none、单次、不重试；费用仅涵盖保存日志的补评分，金额均为美元。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272"/>
                </a:solidFill>
                <a:latin typeface="Microsoft YaHei"/>
                <a:ea typeface="Microsoft YaHei"/>
                <a:cs typeface="Microsoft YaHei"/>
              </a:rPr>
              <a:t>语义 Context Recall 需另定参考覆盖规则，不在本次估算内。</a:t>
            </a:r>
          </a:p>
        </p:txBody>
      </p:sp>
    </p:spTree>
    <p:extLst>
      <p:ext uri="{BB962C8B-B14F-4D97-AF65-F5344CB8AC3E}">
        <p14:creationId xmlns:p14="http://schemas.microsoft.com/office/powerpoint/2010/main" val="1149727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2026-10-15T20:32:31.3480000Z</dcterms:created>
  <dcterms:modified xsi:type="dcterms:W3CDTF">2026-10-15T20:32:31.3480000Z</dcterms:modified>
</coreProperties>
</file>